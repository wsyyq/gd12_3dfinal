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0" r:id="rId5"/>
    <p:sldId id="319" r:id="rId6"/>
    <p:sldId id="287" r:id="rId7"/>
    <p:sldId id="293" r:id="rId8"/>
    <p:sldId id="294" r:id="rId9"/>
    <p:sldId id="290" r:id="rId10"/>
    <p:sldId id="308" r:id="rId11"/>
    <p:sldId id="321" r:id="rId12"/>
    <p:sldId id="324" r:id="rId13"/>
    <p:sldId id="318" r:id="rId14"/>
    <p:sldId id="325" r:id="rId15"/>
    <p:sldId id="320" r:id="rId16"/>
    <p:sldId id="302" r:id="rId17"/>
    <p:sldId id="316" r:id="rId18"/>
    <p:sldId id="328" r:id="rId19"/>
    <p:sldId id="326" r:id="rId20"/>
    <p:sldId id="301" r:id="rId21"/>
    <p:sldId id="327" r:id="rId22"/>
    <p:sldId id="29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6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97A"/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291" autoAdjust="0"/>
  </p:normalViewPr>
  <p:slideViewPr>
    <p:cSldViewPr snapToGrid="0" showGuides="1">
      <p:cViewPr varScale="1">
        <p:scale>
          <a:sx n="97" d="100"/>
          <a:sy n="97" d="100"/>
        </p:scale>
        <p:origin x="108" y="348"/>
      </p:cViewPr>
      <p:guideLst>
        <p:guide pos="3863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ACCC4E-6A2B-4A9E-A177-2FF76E4BCE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00294-99F8-4685-AA68-AF052F7998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C51BB-02ED-4F4E-A820-FB7EC9185EAE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D73E6-D1F9-4527-A750-9D0E0C27B6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06DC-4B1A-4F3D-83A7-54741625BC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0FE8B-8329-4D47-BE4C-E7B6614FD8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08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5/26/2025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105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4104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880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466EE-FED6-A7A2-CD75-5ED1BCE2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BDDDD1-109F-B81D-2C37-1D3DF6389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8B8C00-BD34-E49E-CFD2-79C79694F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BAD647-5ACF-BB67-13E9-555E59E17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114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4496-77CF-E7C0-A297-AF7F47F4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737DCD-7F87-0640-DF2C-C74D986C9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107FB3-16FB-EC9D-6B1A-AFC1BE67E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D3151-7BE6-81C5-B115-41A20A257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763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208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097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74F90AF8-069F-5C0C-D20F-B873200825E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087" t="4110" r="3087" b="2064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3C0C995-565B-4516-BC98-CCDEE529B154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5380844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 dirty="0"/>
              <a:t>2024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    </a:t>
            </a: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5034596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 dirty="0"/>
              <a:t>December</a:t>
            </a:r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890308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PRESENTATION TAGLINE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382082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8400" y="3612713"/>
            <a:ext cx="4975200" cy="1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A7545D6-9827-7E4A-AB92-664BB510D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ru-RU"/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5380844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altLang="zh-CN" noProof="0" dirty="0"/>
              <a:t>2024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   </a:t>
            </a:r>
            <a:endParaRPr lang="ru-RU" dirty="0"/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5034596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altLang="zh-CN" dirty="0"/>
              <a:t>December</a:t>
            </a:r>
            <a:endParaRPr lang="en-US" dirty="0"/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890308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PRESENTATION TAGLINE</a:t>
            </a:r>
          </a:p>
        </p:txBody>
      </p:sp>
    </p:spTree>
    <p:extLst>
      <p:ext uri="{BB962C8B-B14F-4D97-AF65-F5344CB8AC3E}">
        <p14:creationId xmlns:p14="http://schemas.microsoft.com/office/powerpoint/2010/main" val="105011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>
            <a:extLst>
              <a:ext uri="{FF2B5EF4-FFF2-40B4-BE49-F238E27FC236}">
                <a16:creationId xmlns:a16="http://schemas.microsoft.com/office/drawing/2014/main" id="{4D6B2F7A-6215-4548-B8BA-BFBFA46660C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VR PROJECT FINAL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B7C1ECA-416B-4ED3-9B96-F05BED98E498}"/>
              </a:ext>
            </a:extLst>
          </p:cNvPr>
          <p:cNvSpPr/>
          <p:nvPr/>
        </p:nvSpPr>
        <p:spPr>
          <a:xfrm>
            <a:off x="4534478" y="1568994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9"/>
            <a:ext cx="10515600" cy="476476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图片占位符 19">
            <a:extLst>
              <a:ext uri="{FF2B5EF4-FFF2-40B4-BE49-F238E27FC236}">
                <a16:creationId xmlns:a16="http://schemas.microsoft.com/office/drawing/2014/main" id="{C71C2E69-8C3C-4E87-BC9D-9810F56121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483223"/>
            <a:ext cx="12192000" cy="346557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773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DFFF6C81-E769-CE4D-B9C0-858E073D198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1695AE-7720-4633-B467-CD5DD1A9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940C99-75CB-4A48-894F-EA35F7C91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4536" y="922103"/>
            <a:ext cx="4257905" cy="132556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Text Layout 1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7E3AD6-C295-45C8-8FC7-AD342840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80797F8-0544-4DFB-8D2C-CC50CB7F4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282" y="2384295"/>
            <a:ext cx="4519159" cy="639683"/>
          </a:xfrm>
        </p:spPr>
        <p:txBody>
          <a:bodyPr>
            <a:normAutofit/>
          </a:bodyPr>
          <a:lstStyle>
            <a:lvl1pPr marL="0" indent="0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A942D6-FCE6-4DCD-BD15-F6399EC2A2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4599" y="3173534"/>
            <a:ext cx="4707842" cy="2588637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E348D43-6DEE-4E32-B9F5-235CB8EC9257}"/>
              </a:ext>
            </a:extLst>
          </p:cNvPr>
          <p:cNvSpPr/>
          <p:nvPr userDrawn="1"/>
        </p:nvSpPr>
        <p:spPr>
          <a:xfrm>
            <a:off x="7059964" y="2076985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32A28410-C401-4876-8DE7-D0EFCDE41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24" y="0"/>
            <a:ext cx="4626864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58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275CB319-C744-E641-8907-1470D3DF159D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AFC21D-31CF-420D-A654-B62708C7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5D078D9-85B9-4D7C-BCDC-31053365B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2027" y="3938140"/>
            <a:ext cx="4430485" cy="893080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Text Layout 2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5253D9-2D52-4F01-9ED9-4E2A3C0E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BDB2FC-0867-44DF-98D6-C443802B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2E25E660-4559-4CC8-852F-94402A454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97608"/>
            <a:ext cx="12192000" cy="28437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4B61220-F8A1-4859-BA99-F5EC0CC36B0F}"/>
              </a:ext>
            </a:extLst>
          </p:cNvPr>
          <p:cNvSpPr/>
          <p:nvPr userDrawn="1"/>
        </p:nvSpPr>
        <p:spPr>
          <a:xfrm>
            <a:off x="1825747" y="4882453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A39E620-8448-42D8-85B7-A6BF45A2FB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027" y="5192860"/>
            <a:ext cx="4430485" cy="639683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2FF44AF-6A6B-4742-B58D-DF26808AFD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4599" y="4064000"/>
            <a:ext cx="4545374" cy="1698171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932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213AAFFC-6E5A-D44A-ADBF-E9D307CE6349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DABAFE-C077-44F7-8606-FCEAD364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D0EF65-ABFF-4900-A2AD-12A8C47E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E8D827-86E9-4228-B43C-616FE3F7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2BEBEF9-0DCC-4DA2-9828-D5A83238CD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7340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4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E9C552F-C732-4E4C-8B62-DE62A58BAD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2043790"/>
            <a:ext cx="10515599" cy="629105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00DDA39-3A33-4AF8-BB2F-B80A8696D42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34813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4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01D7372-B596-424A-8437-BCA847E03C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9649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78DB58E-1DC8-42B6-8950-A39F9249D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7121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6E7BE306-50F4-4966-B172-8808A97D9FF4}"/>
              </a:ext>
            </a:extLst>
          </p:cNvPr>
          <p:cNvSpPr/>
          <p:nvPr userDrawn="1"/>
        </p:nvSpPr>
        <p:spPr>
          <a:xfrm>
            <a:off x="4534478" y="1718435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17DEC651-98F0-44EE-BAB8-8B3FE702A3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2882"/>
            <a:ext cx="10515600" cy="1325563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1458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99E16AA7-5075-3449-AB21-5E8037339A90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23D6FB-BDF5-462B-9DFB-6A253125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AFBD2F-FD90-4C8F-BEA1-91BB2D24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47FDA8-53F5-4098-B6D5-32456ABF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6" name="图表占位符 5">
            <a:extLst>
              <a:ext uri="{FF2B5EF4-FFF2-40B4-BE49-F238E27FC236}">
                <a16:creationId xmlns:a16="http://schemas.microsoft.com/office/drawing/2014/main" id="{270B440B-C39E-47E6-9CBA-0BA4EB1EF522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981371" y="1246188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单击图标添加图表</a:t>
            </a:r>
            <a:endParaRPr lang="en-US" noProof="0" dirty="0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ED66CD9-A275-41A6-92EA-B32A8F51F472}"/>
              </a:ext>
            </a:extLst>
          </p:cNvPr>
          <p:cNvSpPr/>
          <p:nvPr userDrawn="1"/>
        </p:nvSpPr>
        <p:spPr>
          <a:xfrm>
            <a:off x="1949460" y="2168288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A41807-9D03-4167-89E4-C5D1E81436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5966" y="2478695"/>
            <a:ext cx="5170033" cy="758536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CBDF72AB-A1AE-464E-A9E1-C5CDA8D5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7858" y="1289573"/>
            <a:ext cx="3106248" cy="758536"/>
          </a:xfrm>
        </p:spPr>
        <p:txBody>
          <a:bodyPr lIns="0" tIns="0" rIns="0" bIns="0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Chart Slide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83C9A6F-A614-4B31-91D5-3B5CB932149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030497" y="3408555"/>
            <a:ext cx="1597889" cy="482453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30%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A985BA82-9C97-475F-8775-0F16D2FB40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30498" y="37391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E5376509-D29C-46DE-948E-15D430CE432A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030522" y="414222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10%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581FA6A-566D-4068-A898-F86FB96D4A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0523" y="447277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503636CF-AD49-411E-BE27-63C28BDE068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970011" y="3408555"/>
            <a:ext cx="1597889" cy="482453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25%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F2C67681-C89E-4F74-A7C1-BD0812A942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70012" y="37391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5742559E-6662-49A7-A091-9472A31ED26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970036" y="414222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10%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E514B383-1886-4E45-9DB3-6DF4FFCA6F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0037" y="447277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2734F2A5-6B16-40E3-8EBB-0E1A0984BAB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030497" y="487589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20%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1D6AF2B-2CA0-4F6A-9C29-4AE73FCAB4E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30498" y="520644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3E000C2-49D4-4D64-860A-0DB29B38938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0037" y="4875898"/>
            <a:ext cx="1597889" cy="482452"/>
          </a:xfrm>
        </p:spPr>
        <p:txBody>
          <a:bodyPr anchor="b" anchorCtr="0">
            <a:no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5%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4A6CF106-F60C-46A1-BD17-8EC35A637A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0037" y="520644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</p:spTree>
    <p:extLst>
      <p:ext uri="{BB962C8B-B14F-4D97-AF65-F5344CB8AC3E}">
        <p14:creationId xmlns:p14="http://schemas.microsoft.com/office/powerpoint/2010/main" val="284725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FB049D0D-CE60-8E46-896A-1F4E3E51AABC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88F71-122C-49D4-9750-104A0F9B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A81471-D048-496A-9DA4-EDB33584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DBAE1-8416-4A24-B332-BA35F9D5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9AF1F95-7091-4B50-892C-55F8B5B9AC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1145" y="3029751"/>
            <a:ext cx="2825496" cy="2144162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77DE3589-2C45-437A-BDA9-55A9B8859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1145" y="1868285"/>
            <a:ext cx="2825496" cy="71822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Table Slide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161C347-CD23-4D4F-981D-1C8457111EA8}"/>
              </a:ext>
            </a:extLst>
          </p:cNvPr>
          <p:cNvSpPr/>
          <p:nvPr userDrawn="1"/>
        </p:nvSpPr>
        <p:spPr>
          <a:xfrm>
            <a:off x="8340351" y="2726976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" name="表格占位符 15">
            <a:extLst>
              <a:ext uri="{FF2B5EF4-FFF2-40B4-BE49-F238E27FC236}">
                <a16:creationId xmlns:a16="http://schemas.microsoft.com/office/drawing/2014/main" id="{263A1EA1-1C4F-4F47-9C24-928669CE38D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11225" y="1505433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单击图标添加表格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410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5D65245D-DE69-4098-94DD-C36B76E4C3A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793750"/>
            <a:ext cx="12192000" cy="4900613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6FD1D3-F7DC-4F8A-8E05-6DC25FB66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14150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Big Image Slide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250713-11E6-4FEF-877D-92967D24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5D3C9A-DEE5-4BD4-8961-80E018A4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B63585A-DF5C-1B43-BDC1-9CB545382A8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23800E-00CA-43ED-953B-1A09DD42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7C55A90-4969-4308-AD56-633E3831D5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3284" y="5878369"/>
            <a:ext cx="8165432" cy="365125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5031A21-FED3-4C51-BE76-5A2918F223AD}"/>
              </a:ext>
            </a:extLst>
          </p:cNvPr>
          <p:cNvSpPr/>
          <p:nvPr userDrawn="1"/>
        </p:nvSpPr>
        <p:spPr>
          <a:xfrm>
            <a:off x="4534478" y="5342223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262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477C40CB-E014-6746-B13E-D12CBBAA5F76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250713-11E6-4FEF-877D-92967D24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5D3C9A-DEE5-4BD4-8961-80E018A4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23800E-00CA-43ED-953B-1A09DD42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36869C46-B57A-4B80-BC7B-965AF70D63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84" y="5868367"/>
            <a:ext cx="8165432" cy="363600"/>
          </a:xfrm>
        </p:spPr>
        <p:txBody>
          <a:bodyPr>
            <a:normAutofit/>
          </a:bodyPr>
          <a:lstStyle>
            <a:lvl1pPr algn="ctr">
              <a:defRPr lang="ru-RU" sz="18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媒体占位符 7">
            <a:extLst>
              <a:ext uri="{FF2B5EF4-FFF2-40B4-BE49-F238E27FC236}">
                <a16:creationId xmlns:a16="http://schemas.microsoft.com/office/drawing/2014/main" id="{42411445-9429-45B8-9A2F-EB86451B6B14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829056" y="827052"/>
            <a:ext cx="10533888" cy="481888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zh-CN" altLang="en-US" noProof="0"/>
              <a:t>单击图标添加媒体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135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s Cit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235B53D-F188-47B0-BBAA-2C4724DE60BB}"/>
              </a:ext>
            </a:extLst>
          </p:cNvPr>
          <p:cNvSpPr/>
          <p:nvPr userDrawn="1"/>
        </p:nvSpPr>
        <p:spPr>
          <a:xfrm>
            <a:off x="11521440" y="6635910"/>
            <a:ext cx="374904" cy="222090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B26BB24-F7CA-D343-93C8-2EAC64AB35D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Works Cited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VR PROJECT FINAL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8"/>
            <a:ext cx="10515600" cy="3742191"/>
          </a:xfrm>
        </p:spPr>
        <p:txBody>
          <a:bodyPr>
            <a:normAutofit/>
          </a:bodyPr>
          <a:lstStyle>
            <a:lvl1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180000" lvl="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noProof="0"/>
              <a:t>Edit master text styles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D3F5050C-5FCE-4873-9B10-9668F66C278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00" y="1583062"/>
            <a:ext cx="2736000" cy="13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2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椭圆 32">
            <a:extLst>
              <a:ext uri="{FF2B5EF4-FFF2-40B4-BE49-F238E27FC236}">
                <a16:creationId xmlns:a16="http://schemas.microsoft.com/office/drawing/2014/main" id="{93CAE97F-7AA1-7243-A2C2-945FB7C81FF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Timeline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8"/>
            <a:ext cx="10515600" cy="9048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E7124FD-A9E6-49DA-B2D3-4C868E3C90A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00" y="1583062"/>
            <a:ext cx="2736000" cy="1332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28AD04-D032-4ED8-B747-79E215221BC3}"/>
              </a:ext>
            </a:extLst>
          </p:cNvPr>
          <p:cNvCxnSpPr/>
          <p:nvPr userDrawn="1"/>
        </p:nvCxnSpPr>
        <p:spPr>
          <a:xfrm>
            <a:off x="1003193" y="3429000"/>
            <a:ext cx="10735056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7CADBD86-8962-4775-A03E-4D2D3F35D72C}"/>
              </a:ext>
            </a:extLst>
          </p:cNvPr>
          <p:cNvSpPr/>
          <p:nvPr userDrawn="1"/>
        </p:nvSpPr>
        <p:spPr>
          <a:xfrm>
            <a:off x="1003193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25884FD-7D59-4699-84D1-14B6900E99F4}"/>
              </a:ext>
            </a:extLst>
          </p:cNvPr>
          <p:cNvSpPr/>
          <p:nvPr userDrawn="1"/>
        </p:nvSpPr>
        <p:spPr>
          <a:xfrm>
            <a:off x="6048611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6A6A55C-2C42-4004-8120-A8A22C86DD6F}"/>
              </a:ext>
            </a:extLst>
          </p:cNvPr>
          <p:cNvSpPr/>
          <p:nvPr userDrawn="1"/>
        </p:nvSpPr>
        <p:spPr>
          <a:xfrm>
            <a:off x="9412224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13A8FD8-4E6D-4DB1-8DA5-82151D87BDFF}"/>
              </a:ext>
            </a:extLst>
          </p:cNvPr>
          <p:cNvSpPr/>
          <p:nvPr userDrawn="1"/>
        </p:nvSpPr>
        <p:spPr>
          <a:xfrm>
            <a:off x="2684999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1E5BFBE-FB31-40FB-971E-8340FDBDE99A}"/>
              </a:ext>
            </a:extLst>
          </p:cNvPr>
          <p:cNvSpPr/>
          <p:nvPr userDrawn="1"/>
        </p:nvSpPr>
        <p:spPr>
          <a:xfrm>
            <a:off x="4366805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9956DA3-E64C-494F-8908-AC1D9418DC10}"/>
              </a:ext>
            </a:extLst>
          </p:cNvPr>
          <p:cNvSpPr/>
          <p:nvPr userDrawn="1"/>
        </p:nvSpPr>
        <p:spPr>
          <a:xfrm>
            <a:off x="7730417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925B8D3-7699-4838-BB92-099F0752E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25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F0ED1E4A-D0B2-44B6-AE21-6DC45B20C6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94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4648B297-D9C8-4F98-BBDB-5A2891F94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88286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5B52EBA-EDDF-4C7B-A681-393B771D34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38979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97BC10B9-E990-4199-8B1A-8B69D6F4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032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5876A64D-FA56-4565-8EBF-B9D51A8B20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101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A843817-8244-446A-9618-257B5329B4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2356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86A6FE38-5036-4D35-93E4-07C5DEC401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3049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文本占位符 28">
            <a:extLst>
              <a:ext uri="{FF2B5EF4-FFF2-40B4-BE49-F238E27FC236}">
                <a16:creationId xmlns:a16="http://schemas.microsoft.com/office/drawing/2014/main" id="{1966E981-C557-4255-9DCC-162A429B5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439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30" name="文本占位符 29">
            <a:extLst>
              <a:ext uri="{FF2B5EF4-FFF2-40B4-BE49-F238E27FC236}">
                <a16:creationId xmlns:a16="http://schemas.microsoft.com/office/drawing/2014/main" id="{C386D796-CB69-4D7D-9C52-C41187CC88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8508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文本占位符 30">
            <a:extLst>
              <a:ext uri="{FF2B5EF4-FFF2-40B4-BE49-F238E27FC236}">
                <a16:creationId xmlns:a16="http://schemas.microsoft.com/office/drawing/2014/main" id="{24441BBA-89B7-4AE6-91F6-04DB373B54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16424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B117E4C6-D10A-4738-8283-D63AB1B314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67117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942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447556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678-555-0128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1663690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Thank You!</a:t>
            </a: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4152286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264670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004104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400" y="2987075"/>
            <a:ext cx="4975200" cy="114227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1AF3F24-9D59-456A-9130-8C4049C34F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5423227"/>
            <a:ext cx="6400800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MARTENSSON@EXAMPLE.COM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16B9C4F-E33C-4EA7-A4F7-A2137CFCF2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512151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09187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EDD611DF-9DFE-B043-8BAE-EE27852FDA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447556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678-555-0128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1663690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4152286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264670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004104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1AF3F24-9D59-456A-9130-8C4049C34F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5722" y="5423227"/>
            <a:ext cx="5920556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MARTENSSON@GMAIL.COM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16B9C4F-E33C-4EA7-A4F7-A2137CFCF2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512151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05328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   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400" y="3612713"/>
            <a:ext cx="4975200" cy="114227"/>
          </a:xfrm>
          <a:prstGeom prst="rect">
            <a:avLst/>
          </a:prstGeom>
        </p:spPr>
      </p:pic>
      <p:sp>
        <p:nvSpPr>
          <p:cNvPr id="9" name="副标题 8">
            <a:extLst>
              <a:ext uri="{FF2B5EF4-FFF2-40B4-BE49-F238E27FC236}">
                <a16:creationId xmlns:a16="http://schemas.microsoft.com/office/drawing/2014/main" id="{16A87704-FE99-4EBD-97FB-FBB15A227F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7021" y="3890308"/>
            <a:ext cx="10117959" cy="60665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3000" b="0" i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38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>
            <a:extLst>
              <a:ext uri="{FF2B5EF4-FFF2-40B4-BE49-F238E27FC236}">
                <a16:creationId xmlns:a16="http://schemas.microsoft.com/office/drawing/2014/main" id="{4D6B2F7A-6215-4548-B8BA-BFBFA46660C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B7C1ECA-416B-4ED3-9B96-F05BED98E498}"/>
              </a:ext>
            </a:extLst>
          </p:cNvPr>
          <p:cNvSpPr/>
          <p:nvPr/>
        </p:nvSpPr>
        <p:spPr>
          <a:xfrm>
            <a:off x="4534478" y="1568994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14241DF-0B07-491C-8CA2-1BD10F84525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82722"/>
            <a:ext cx="10515600" cy="46859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800"/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4574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EE16B2B-50E5-F583-22F0-83819A3BC0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 t="24733" b="24733"/>
          <a:stretch/>
        </p:blipFill>
        <p:spPr bwMode="auto">
          <a:xfrm>
            <a:off x="0" y="2490615"/>
            <a:ext cx="12192000" cy="34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D6B2F7A-6215-4548-B8BA-BFBFA46660C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6B7C1ECA-416B-4ED3-9B96-F05BED98E498}"/>
              </a:ext>
            </a:extLst>
          </p:cNvPr>
          <p:cNvSpPr/>
          <p:nvPr/>
        </p:nvSpPr>
        <p:spPr>
          <a:xfrm>
            <a:off x="4534478" y="1568994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14241DF-0B07-491C-8CA2-1BD10F84525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82722"/>
            <a:ext cx="10515600" cy="46859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800"/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CEE636-911C-AAD8-AEEE-5DFDA55C4B46}"/>
              </a:ext>
            </a:extLst>
          </p:cNvPr>
          <p:cNvSpPr/>
          <p:nvPr userDrawn="1"/>
        </p:nvSpPr>
        <p:spPr>
          <a:xfrm>
            <a:off x="0" y="2484374"/>
            <a:ext cx="12192000" cy="3465576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42118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AF4CE-F455-4A31-8ED6-5841DF59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82F029-D8CC-4FE7-9C30-98E576ED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891442-6C1A-4969-A4A2-EFCF20E7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457F0D-7504-4879-BCFD-DDEA424C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CCB36-FE7F-43C1-810B-49BBAB49486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0599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B6609-6A41-45F4-9B8B-9A6DEABB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FD4558-495E-4FE3-B256-7B6A8637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C0E450-E490-45F1-909F-5831583C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D7E109-C0EE-4D25-9A01-E58D7476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C48FC5-1EDF-4F7E-9E82-D342C4D4590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245FF27-1D81-4487-86EE-A8826AB3331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853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5B3E-9C3B-48E3-BA88-7B18BAC8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E55B65-81AB-463F-B78F-208BABF7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814494-7E7B-41F9-984C-51671FC7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932FB9-9355-4718-A3AF-2991AEFD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E064FB-456B-4012-A632-907E0F636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66900"/>
            <a:ext cx="5157787" cy="445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7224228-301B-4143-AE44-555A65ECB3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488937"/>
            <a:ext cx="5157787" cy="346101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421B5496-F2D7-450B-A1AF-12FC29E4548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66900"/>
            <a:ext cx="5183188" cy="445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087222D-3611-4518-AD76-AC2E042CD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488937"/>
            <a:ext cx="5183188" cy="346101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6462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0DEAF0-9B16-4335-875E-3D5B654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80122F-A667-467F-9ABE-57A77934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B5B8C5-3BA1-4EE6-9D72-5F3863E6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CBF854A-65B9-4A5D-97C6-BA041A37CD22}"/>
              </a:ext>
            </a:extLst>
          </p:cNvPr>
          <p:cNvSpPr/>
          <p:nvPr userDrawn="1"/>
        </p:nvSpPr>
        <p:spPr>
          <a:xfrm>
            <a:off x="1442364" y="2135538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C3E8E02D-385B-477A-BAE1-4A97C6E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3932237" cy="11493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6CA7378-0B2D-435D-B34B-744CA89114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53200"/>
            <a:ext cx="3932237" cy="3515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9BB017D3-0E4A-43F4-BC02-DB826A7FDC3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0012" y="908051"/>
            <a:ext cx="6172200" cy="4957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774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0DEAF0-9B16-4335-875E-3D5B654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80122F-A667-467F-9ABE-57A77934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B5B8C5-3BA1-4EE6-9D72-5F3863E6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CBF854A-65B9-4A5D-97C6-BA041A37CD22}"/>
              </a:ext>
            </a:extLst>
          </p:cNvPr>
          <p:cNvSpPr/>
          <p:nvPr userDrawn="1"/>
        </p:nvSpPr>
        <p:spPr>
          <a:xfrm>
            <a:off x="1442364" y="2135538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C3E8E02D-385B-477A-BAE1-4A97C6E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3932237" cy="11493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6CA7378-0B2D-435D-B34B-744CA89114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53200"/>
            <a:ext cx="3932237" cy="3515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9A7D37A5-CD8F-499C-BFFD-2D0EB0855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08051"/>
            <a:ext cx="6172200" cy="4953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82454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3336D-E3BE-45DB-B625-753732F9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C2EC4E-2A4D-4B8B-8C10-D8F4A649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027D07-F714-4E3C-97FC-7AB8C42F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E3BA64-4F34-452B-AA1F-BB90A0F0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67737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57916-404D-41BC-B080-9B6CBA9F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20C85E-02E3-4F3E-8E6F-4467C612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68646"/>
            <a:ext cx="2743200" cy="261610"/>
          </a:xfrm>
        </p:spPr>
        <p:txBody>
          <a:bodyPr/>
          <a:lstStyle/>
          <a:p>
            <a:r>
              <a:rPr lang="en-US" altLang="zh-CN" dirty="0"/>
              <a:t>2024/12/28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2F5317-A8A3-406A-96EA-4BB58C35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A1141-BD97-42C5-A257-A2C0668A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4210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116" y="1815793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4409" y="1920003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516" y="1815793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49" y="1920003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629" y="1833572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4262" y="1937782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1723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文本占位符 42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90348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文本占位符 4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793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6" name="文本占位符 45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6955" y="300619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040" y="5751926"/>
            <a:ext cx="8877920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791" y="4974002"/>
            <a:ext cx="259919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0713" y="4974002"/>
            <a:ext cx="371266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5" name="图片占位符 54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80614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56" name="图片占位符 55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80614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57" name="图片占位符 56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94478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58" name="图片占位符 57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94478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1220" y="558203"/>
            <a:ext cx="7909560" cy="1069848"/>
          </a:xfrm>
          <a:noFill/>
        </p:spPr>
        <p:txBody>
          <a:bodyPr lIns="0" tIns="0" rIns="0" bIns="0">
            <a:normAutofit/>
          </a:bodyPr>
          <a:lstStyle>
            <a:lvl1pPr algn="ctr">
              <a:defRPr lang="ru-RU" sz="6000" b="0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pic>
        <p:nvPicPr>
          <p:cNvPr id="21" name="图形 20">
            <a:extLst>
              <a:ext uri="{FF2B5EF4-FFF2-40B4-BE49-F238E27FC236}">
                <a16:creationId xmlns:a16="http://schemas.microsoft.com/office/drawing/2014/main" id="{08EB3F0B-0F1D-42D2-B6C2-D4D6D82571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400" y="1568994"/>
            <a:ext cx="4975200" cy="1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8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04C9FBA-BD24-42E1-BABE-0EE5C20738FC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>
            <a:spAutoFit/>
          </a:bodyPr>
          <a:lstStyle/>
          <a:p>
            <a:pPr algn="l"/>
            <a:endParaRPr lang="en-US" noProof="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2715CE-EA2A-4137-8BA3-1FEEF2E40A3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>
            <a:spAutoFit/>
          </a:bodyPr>
          <a:lstStyle/>
          <a:p>
            <a:pPr algn="l"/>
            <a:endParaRPr lang="en-US" noProof="0" dirty="0"/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068646"/>
            <a:ext cx="2743200" cy="26161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2024/12/26</a:t>
            </a: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03234" y="6016890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273660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9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5" r:id="rId11"/>
    <p:sldLayoutId id="2147483678" r:id="rId12"/>
    <p:sldLayoutId id="2147483674" r:id="rId13"/>
    <p:sldLayoutId id="2147483680" r:id="rId14"/>
    <p:sldLayoutId id="2147483681" r:id="rId15"/>
    <p:sldLayoutId id="2147483682" r:id="rId16"/>
    <p:sldLayoutId id="2147483690" r:id="rId17"/>
    <p:sldLayoutId id="2147483683" r:id="rId18"/>
    <p:sldLayoutId id="2147483684" r:id="rId19"/>
    <p:sldLayoutId id="2147483685" r:id="rId20"/>
    <p:sldLayoutId id="2147483688" r:id="rId21"/>
    <p:sldLayoutId id="2147483689" r:id="rId22"/>
    <p:sldLayoutId id="2147483686" r:id="rId23"/>
    <p:sldLayoutId id="2147483687" r:id="rId24"/>
    <p:sldLayoutId id="2147483676" r:id="rId2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D2CD44-400D-FC31-7592-278A9ACC58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/>
              <a:t>2025.4.24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B6FBC46-5A94-4AB1-08BE-97A74D86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7200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Counter Ghost</a:t>
            </a:r>
            <a:endParaRPr lang="zh-CN" altLang="en-US" sz="7200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ED6F21-3518-7505-220C-1812B04BF9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>SHVFS GD12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EF9824-5CA2-D22B-B7B3-9F4762794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VR Horror Game Project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2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7EEF6E-0E90-1DB2-A4F4-A2454D5A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BE9E433-E203-F1B3-00BE-C970803D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10" y="1002378"/>
            <a:ext cx="6096186" cy="841962"/>
          </a:xfrm>
        </p:spPr>
        <p:txBody>
          <a:bodyPr vert="horz" lIns="91440" tIns="45720" rIns="91440" bIns="45720" rtlCol="0" anchor="ctr">
            <a:spAutoFit/>
          </a:bodyPr>
          <a:lstStyle/>
          <a:p>
            <a:pPr algn="ctr"/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Game Experience 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8E4F35-AD33-3F97-8D5A-7D414CDC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3E04E62-1A23-92BC-D2B4-61523809B0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227810"/>
            <a:ext cx="5184531" cy="3833143"/>
          </a:xfrm>
        </p:spPr>
        <p:txBody>
          <a:bodyPr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altLang="zh-CN" sz="2400" dirty="0"/>
              <a:t>Play as a </a:t>
            </a:r>
            <a:r>
              <a:rPr lang="en-US" altLang="zh-CN" sz="2400" b="1" i="1" dirty="0"/>
              <a:t>paranormal investigator </a:t>
            </a:r>
            <a:r>
              <a:rPr lang="en-US" altLang="zh-CN" sz="2400" dirty="0"/>
              <a:t>assigned to investigate a haunted house. </a:t>
            </a:r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altLang="zh-CN" sz="2400" dirty="0"/>
              <a:t>Collect as much evidence as possible of ghostly activity, and then perform the appropriate exorcism to banish the entity.</a:t>
            </a:r>
          </a:p>
        </p:txBody>
      </p:sp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289180D0-4E8A-8D5F-D834-F8C561BD54D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1836" r="11836"/>
          <a:stretch/>
        </p:blipFill>
        <p:spPr>
          <a:xfrm>
            <a:off x="0" y="0"/>
            <a:ext cx="5538788" cy="6858000"/>
          </a:xfrm>
        </p:spPr>
      </p:pic>
    </p:spTree>
    <p:extLst>
      <p:ext uri="{BB962C8B-B14F-4D97-AF65-F5344CB8AC3E}">
        <p14:creationId xmlns:p14="http://schemas.microsoft.com/office/powerpoint/2010/main" val="308935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02C4-18AD-D53E-2A36-5AA1E23A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1AD7C5-C47A-E34B-E4BA-A44B6ACE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64247C6-3F5C-550B-7361-42327709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04310"/>
            <a:ext cx="5505997" cy="923330"/>
          </a:xfrm>
        </p:spPr>
        <p:txBody>
          <a:bodyPr/>
          <a:lstStyle/>
          <a:p>
            <a:pPr algn="ctr"/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STORRRRY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766A85-51BD-CD82-C1B4-3AD25BEA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D28E09-B7F3-49BD-6209-8CE606F28380}"/>
              </a:ext>
            </a:extLst>
          </p:cNvPr>
          <p:cNvSpPr txBox="1"/>
          <p:nvPr/>
        </p:nvSpPr>
        <p:spPr>
          <a:xfrm>
            <a:off x="7257093" y="2274702"/>
            <a:ext cx="2712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Jarrett Jackson</a:t>
            </a:r>
            <a:endParaRPr lang="zh-CN" altLang="en-US" sz="2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E3F8E1-B5ED-AE3D-E501-F8A355768D9F}"/>
              </a:ext>
            </a:extLst>
          </p:cNvPr>
          <p:cNvSpPr txBox="1"/>
          <p:nvPr/>
        </p:nvSpPr>
        <p:spPr>
          <a:xfrm>
            <a:off x="6070372" y="2948850"/>
            <a:ext cx="5590032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As an experienced paranormal investigator, power is not always the most important factor.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The key is identifying the type of entity. So is performing the correct exorcism.</a:t>
            </a:r>
          </a:p>
          <a:p>
            <a:pPr>
              <a:spcBef>
                <a:spcPts val="18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Company Handbook: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Do not let the ghosts find you.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Do not stay in the dark.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</a:rPr>
              <a:t>Come back alive.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BF3714C0-88D1-9DF0-73DD-FB6725D4F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97907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>
            <a:extLst>
              <a:ext uri="{FF2B5EF4-FFF2-40B4-BE49-F238E27FC236}">
                <a16:creationId xmlns:a16="http://schemas.microsoft.com/office/drawing/2014/main" id="{729AB521-A2D6-5B1E-A676-85216C7D42A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t="9805" b="9805"/>
          <a:stretch/>
        </p:blipFill>
        <p:spPr>
          <a:xfrm>
            <a:off x="0" y="0"/>
            <a:ext cx="12192000" cy="4900613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3887EE4-0C28-C4E0-A3B9-51DF7E39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74844"/>
            <a:ext cx="10515600" cy="757130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sz="4800" b="1" dirty="0" err="1">
                <a:solidFill>
                  <a:srgbClr val="D8B9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Phasmophobia</a:t>
            </a:r>
            <a:endParaRPr lang="zh-CN" altLang="en-US" sz="4800" b="1" dirty="0">
              <a:solidFill>
                <a:srgbClr val="D8B97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7976D2-2C37-35A5-5D33-DB936D95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234F66-A643-AFD6-6F7C-CEC6FE31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3D9122C-D8E2-7AAE-9308-568E6BA072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13284" y="5593856"/>
            <a:ext cx="8165432" cy="365125"/>
          </a:xfrm>
        </p:spPr>
        <p:txBody>
          <a:bodyPr/>
          <a:lstStyle/>
          <a:p>
            <a:r>
              <a:rPr lang="en-US" altLang="zh-CN" dirty="0"/>
              <a:t>Reference: Game Loop &amp; Mechanics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5591F-750F-99BF-D905-9090FFF889A1}"/>
              </a:ext>
            </a:extLst>
          </p:cNvPr>
          <p:cNvSpPr txBox="1"/>
          <p:nvPr/>
        </p:nvSpPr>
        <p:spPr>
          <a:xfrm>
            <a:off x="65688" y="69808"/>
            <a:ext cx="43200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Script MT Bold" panose="03040602040607080904" pitchFamily="66" charset="0"/>
                <a:ea typeface="方正耀动黑 简" panose="02000500000000000000" pitchFamily="2" charset="-122"/>
              </a:rPr>
              <a:t>Reference Game</a:t>
            </a:r>
            <a:endParaRPr lang="zh-CN" altLang="en-US" sz="4000" dirty="0">
              <a:solidFill>
                <a:schemeClr val="bg1">
                  <a:lumMod val="95000"/>
                </a:schemeClr>
              </a:solidFill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1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BFC55-0CD8-B535-EC3C-EB497768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>
            <a:extLst>
              <a:ext uri="{FF2B5EF4-FFF2-40B4-BE49-F238E27FC236}">
                <a16:creationId xmlns:a16="http://schemas.microsoft.com/office/drawing/2014/main" id="{EF553FDD-F4D2-3398-AA63-D9AE6DCC15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1873" b="26669"/>
          <a:stretch/>
        </p:blipFill>
        <p:spPr>
          <a:xfrm>
            <a:off x="0" y="0"/>
            <a:ext cx="12192000" cy="4900613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816A57D-EB2F-5571-A639-1273CDB6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1983"/>
            <a:ext cx="10515600" cy="757130"/>
          </a:xfrm>
        </p:spPr>
        <p:txBody>
          <a:bodyPr/>
          <a:lstStyle/>
          <a:p>
            <a:r>
              <a:rPr lang="en-US" altLang="zh-CN" sz="4800" b="1" dirty="0">
                <a:solidFill>
                  <a:srgbClr val="D8B9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Contagion VR: Outbreak</a:t>
            </a:r>
            <a:endParaRPr lang="zh-CN" altLang="en-US" sz="4800" b="1" dirty="0">
              <a:solidFill>
                <a:srgbClr val="D8B97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26D5C3-5284-0F11-4DF3-EA2CFC6A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AAB813-DE51-D97F-D4F8-7F1B1B4E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8317D93-D92F-1C76-9A5F-121D7F8EDB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13284" y="5593855"/>
            <a:ext cx="8165432" cy="365125"/>
          </a:xfrm>
        </p:spPr>
        <p:txBody>
          <a:bodyPr/>
          <a:lstStyle/>
          <a:p>
            <a:r>
              <a:rPr lang="en-US" altLang="zh-CN" dirty="0"/>
              <a:t>Reference:</a:t>
            </a:r>
            <a:r>
              <a:rPr lang="zh-CN" altLang="en-US" dirty="0"/>
              <a:t> </a:t>
            </a:r>
            <a:r>
              <a:rPr lang="en-US" altLang="zh-CN" dirty="0"/>
              <a:t>Level &amp; Environment Art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0F215C-941D-B73C-AA9F-D5FF3564A367}"/>
              </a:ext>
            </a:extLst>
          </p:cNvPr>
          <p:cNvSpPr txBox="1"/>
          <p:nvPr/>
        </p:nvSpPr>
        <p:spPr>
          <a:xfrm>
            <a:off x="65688" y="69808"/>
            <a:ext cx="43200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Script MT Bold" panose="03040602040607080904" pitchFamily="66" charset="0"/>
                <a:ea typeface="方正耀动黑 简" panose="02000500000000000000" pitchFamily="2" charset="-122"/>
              </a:rPr>
              <a:t>Reference Game</a:t>
            </a:r>
            <a:endParaRPr lang="zh-CN" altLang="en-US" sz="4000" dirty="0">
              <a:solidFill>
                <a:schemeClr val="bg1">
                  <a:lumMod val="95000"/>
                </a:schemeClr>
              </a:solidFill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45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F410-A3C4-0D4B-57E2-725A17BB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6F5A381-C88E-971C-14B1-5E590BF87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l="27024" t="-814" r="35787" b="814"/>
          <a:stretch/>
        </p:blipFill>
        <p:spPr>
          <a:xfrm>
            <a:off x="8436972" y="1890544"/>
            <a:ext cx="3271936" cy="43831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27BDB8A-FDB1-8D80-A15B-CFA3C9F37F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773" r="16970"/>
          <a:stretch/>
        </p:blipFill>
        <p:spPr>
          <a:xfrm>
            <a:off x="4460032" y="1930281"/>
            <a:ext cx="3271937" cy="43446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FD23E3E-4E28-C186-672A-61D212A01C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017" r="20300"/>
          <a:stretch/>
        </p:blipFill>
        <p:spPr>
          <a:xfrm>
            <a:off x="664198" y="1911064"/>
            <a:ext cx="2974975" cy="4383116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95FB6FB3-C58D-E554-F459-EB8440C6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>
                <a:latin typeface="Script MT Bold" panose="03040602040607080904" pitchFamily="66" charset="0"/>
                <a:ea typeface="方正耀动黑 简" panose="02000500000000000000" pitchFamily="2" charset="-122"/>
              </a:rPr>
              <a:t>Game Pillars</a:t>
            </a:r>
            <a:endParaRPr 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ACD57B-0D51-A178-90A2-E6CB23BF2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197" y="4792659"/>
            <a:ext cx="2974975" cy="332399"/>
          </a:xfr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36000" tIns="0" rIns="0" bIns="0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lt"/>
              </a:rPr>
              <a:t>VR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Sensory Hiding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2129F7E-041D-7D18-4925-D9C75177264C}"/>
              </a:ext>
            </a:extLst>
          </p:cNvPr>
          <p:cNvSpPr txBox="1">
            <a:spLocks/>
          </p:cNvSpPr>
          <p:nvPr/>
        </p:nvSpPr>
        <p:spPr>
          <a:xfrm>
            <a:off x="5821279" y="6273660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5E168-DA5E-4888-8D8A-92B118324C1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8110552F-1EDD-3D11-2708-A5ECD861E7F0}"/>
              </a:ext>
            </a:extLst>
          </p:cNvPr>
          <p:cNvSpPr txBox="1">
            <a:spLocks/>
          </p:cNvSpPr>
          <p:nvPr/>
        </p:nvSpPr>
        <p:spPr>
          <a:xfrm>
            <a:off x="4438745" y="4793300"/>
            <a:ext cx="3271937" cy="332399"/>
          </a:xfrm>
          <a:prstGeom prst="rect">
            <a:avLst/>
          </a:prstGeom>
        </p:spPr>
        <p:txBody>
          <a:bodyPr vert="horz" wrap="square" lIns="3600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Collect Evidence</a:t>
            </a:r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11BA8417-2A12-872D-D44D-DE3136E57338}"/>
              </a:ext>
            </a:extLst>
          </p:cNvPr>
          <p:cNvSpPr txBox="1">
            <a:spLocks/>
          </p:cNvSpPr>
          <p:nvPr/>
        </p:nvSpPr>
        <p:spPr>
          <a:xfrm>
            <a:off x="8436971" y="4793300"/>
            <a:ext cx="3271936" cy="332399"/>
          </a:xfrm>
          <a:prstGeom prst="rect">
            <a:avLst/>
          </a:prstGeom>
        </p:spPr>
        <p:txBody>
          <a:bodyPr vert="horz" wrap="square" lIns="36000" tIns="0" rIns="0" bIns="0" rtlCol="0">
            <a:spAutoFit/>
          </a:bodyPr>
          <a:lstStyle>
            <a:defPPr>
              <a:defRPr lang="ru-RU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Exorcism Performance</a:t>
            </a:r>
          </a:p>
        </p:txBody>
      </p:sp>
    </p:spTree>
    <p:extLst>
      <p:ext uri="{BB962C8B-B14F-4D97-AF65-F5344CB8AC3E}">
        <p14:creationId xmlns:p14="http://schemas.microsoft.com/office/powerpoint/2010/main" val="1573118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94EF85-8A44-D386-E466-85EA6C85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D3CEFF7-D8FF-B3BF-621D-673FB4E2B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Gameplay Flow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F2DC39-0373-7491-390F-06454CC4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8ACAE5-3609-0A35-C59C-E3C2986E6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</a:extLst>
          </a:blip>
          <a:srcRect b="4734"/>
          <a:stretch/>
        </p:blipFill>
        <p:spPr>
          <a:xfrm>
            <a:off x="7658675" y="1874839"/>
            <a:ext cx="3695125" cy="4016008"/>
          </a:xfrm>
          <a:prstGeom prst="rect">
            <a:avLst/>
          </a:prstGeom>
        </p:spPr>
      </p:pic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E92BB17-3D30-8EA7-C549-7DEE84608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74838"/>
            <a:ext cx="6600092" cy="435094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b="1" dirty="0"/>
              <a:t>Tutorial</a:t>
            </a:r>
            <a:r>
              <a:rPr lang="en-US" altLang="zh-CN" sz="1800" dirty="0"/>
              <a:t>: Learn how to move around and interact with different types of items. 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b="1" dirty="0" err="1"/>
              <a:t>Beginplay</a:t>
            </a:r>
            <a:r>
              <a:rPr lang="en-US" altLang="zh-CN" sz="1800" dirty="0"/>
              <a:t>: Acknowledge the mission goal.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b="1" dirty="0"/>
              <a:t>Detection phase</a:t>
            </a:r>
            <a:r>
              <a:rPr lang="en-US" altLang="zh-CN" sz="1800" dirty="0"/>
              <a:t>: Use equipment to determine the location of the haunted room and collect as much information as possible to identify the type of ghost.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b="1" dirty="0"/>
              <a:t>Hunting Phase</a:t>
            </a:r>
            <a:r>
              <a:rPr lang="en-US" altLang="zh-CN" sz="1800" dirty="0"/>
              <a:t>: Stay away from the ghost or evacuate to the safe zone to avoid being killed.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b="1" dirty="0"/>
              <a:t>Exorcism Phase</a:t>
            </a:r>
            <a:r>
              <a:rPr lang="en-US" altLang="zh-CN" sz="1800" dirty="0"/>
              <a:t>: Once the haunted room and ghost type have been determined, use the corresponding exorcism method to banish it and win the game..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CN" sz="1800" dirty="0"/>
              <a:t>*Being killed by the ghost in the hunt phase or performing the incorrect exorcism will result in a game failure.</a:t>
            </a:r>
          </a:p>
        </p:txBody>
      </p:sp>
    </p:spTree>
    <p:extLst>
      <p:ext uri="{BB962C8B-B14F-4D97-AF65-F5344CB8AC3E}">
        <p14:creationId xmlns:p14="http://schemas.microsoft.com/office/powerpoint/2010/main" val="328046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F1FB-4692-38D2-D542-8DC4BBBC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79AD07-EEE2-44A5-4A05-6AC1FD40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E2C337E-8E1D-9319-FB0D-89FDF1AC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Core Gameplay – Detection phase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F95395-5E86-BAEF-FAA6-07EE8D55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9CF34DF-2657-D358-56F5-FE556FC26D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73926"/>
            <a:ext cx="10396778" cy="5179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400" b="1" dirty="0"/>
              <a:t>Determine the haunted location  +  Collect info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to identify the ghost type.</a:t>
            </a:r>
          </a:p>
        </p:txBody>
      </p:sp>
      <p:sp>
        <p:nvSpPr>
          <p:cNvPr id="7" name="文本占位符 9">
            <a:extLst>
              <a:ext uri="{FF2B5EF4-FFF2-40B4-BE49-F238E27FC236}">
                <a16:creationId xmlns:a16="http://schemas.microsoft.com/office/drawing/2014/main" id="{FEFA0CDD-6964-445D-E939-5068646E306A}"/>
              </a:ext>
            </a:extLst>
          </p:cNvPr>
          <p:cNvSpPr txBox="1">
            <a:spLocks/>
          </p:cNvSpPr>
          <p:nvPr/>
        </p:nvSpPr>
        <p:spPr>
          <a:xfrm>
            <a:off x="2270767" y="2332262"/>
            <a:ext cx="2020809" cy="36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Evidence</a:t>
            </a:r>
            <a:endParaRPr lang="en-US" altLang="zh-CN" sz="18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30E3F8C-4AF1-D29D-6612-DB42BC340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98701"/>
              </p:ext>
            </p:extLst>
          </p:nvPr>
        </p:nvGraphicFramePr>
        <p:xfrm>
          <a:off x="838199" y="2732031"/>
          <a:ext cx="4885944" cy="32520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919642">
                  <a:extLst>
                    <a:ext uri="{9D8B030D-6E8A-4147-A177-3AD203B41FA5}">
                      <a16:colId xmlns:a16="http://schemas.microsoft.com/office/drawing/2014/main" val="3834035427"/>
                    </a:ext>
                  </a:extLst>
                </a:gridCol>
                <a:gridCol w="1966302">
                  <a:extLst>
                    <a:ext uri="{9D8B030D-6E8A-4147-A177-3AD203B41FA5}">
                      <a16:colId xmlns:a16="http://schemas.microsoft.com/office/drawing/2014/main" val="2515899090"/>
                    </a:ext>
                  </a:extLst>
                </a:gridCol>
              </a:tblGrid>
              <a:tr h="343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Information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Equipments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451544"/>
                  </a:ext>
                </a:extLst>
              </a:tr>
              <a:tr h="600320">
                <a:tc>
                  <a:txBody>
                    <a:bodyPr/>
                    <a:lstStyle/>
                    <a:p>
                      <a:pPr algn="ctr"/>
                      <a:r>
                        <a:rPr lang="fr-FR" altLang="zh-CN" dirty="0"/>
                        <a:t>Abnormal Temperature </a:t>
                      </a:r>
                    </a:p>
                    <a:p>
                      <a:pPr algn="ctr"/>
                      <a:r>
                        <a:rPr lang="fr-FR" altLang="zh-CN" dirty="0"/>
                        <a:t>(T &gt; 25 or T &lt; 15)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Thermometer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41647"/>
                  </a:ext>
                </a:extLst>
              </a:tr>
              <a:tr h="343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Ghost Handprints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UV Light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880539"/>
                  </a:ext>
                </a:extLst>
              </a:tr>
              <a:tr h="600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Abnormal electromagnetic field intensity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EMF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694978"/>
                  </a:ext>
                </a:extLst>
              </a:tr>
              <a:tr h="600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Ghost being photographed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Camera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971435"/>
                  </a:ext>
                </a:extLst>
              </a:tr>
              <a:tr h="541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Ghost answering questions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Spirit Box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087510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BD27C999-F83B-709E-DB78-FC29A4FBE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254" y="2732031"/>
            <a:ext cx="5661549" cy="3254180"/>
          </a:xfrm>
          <a:prstGeom prst="rect">
            <a:avLst/>
          </a:prstGeom>
        </p:spPr>
      </p:pic>
      <p:sp>
        <p:nvSpPr>
          <p:cNvPr id="16" name="文本占位符 9">
            <a:extLst>
              <a:ext uri="{FF2B5EF4-FFF2-40B4-BE49-F238E27FC236}">
                <a16:creationId xmlns:a16="http://schemas.microsoft.com/office/drawing/2014/main" id="{1A2AE89F-8D08-CFF3-EC23-6063932257FB}"/>
              </a:ext>
            </a:extLst>
          </p:cNvPr>
          <p:cNvSpPr txBox="1">
            <a:spLocks/>
          </p:cNvSpPr>
          <p:nvPr/>
        </p:nvSpPr>
        <p:spPr>
          <a:xfrm>
            <a:off x="7748623" y="2332262"/>
            <a:ext cx="2020809" cy="36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In-game Booklet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533444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2E12-2A2D-9086-39D2-3BB08F39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E17C11-909E-81CB-8BDB-7746567F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D32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D3200"/>
              </a:solidFill>
              <a:effectLst/>
              <a:uLnTx/>
              <a:uFillTx/>
              <a:latin typeface="Book Antiqua"/>
              <a:ea typeface="+mn-ea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8105EC-FAC5-50E8-7930-CDD4D2F6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Core Gameplay – Ghost ai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9" name="页脚占位符 3">
            <a:extLst>
              <a:ext uri="{FF2B5EF4-FFF2-40B4-BE49-F238E27FC236}">
                <a16:creationId xmlns:a16="http://schemas.microsoft.com/office/drawing/2014/main" id="{AB6F265F-4D9B-64EF-E9FA-D6C90546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5B7B56A8-45F2-57A2-7E18-0E0D3B421561}"/>
              </a:ext>
            </a:extLst>
          </p:cNvPr>
          <p:cNvSpPr txBox="1">
            <a:spLocks/>
          </p:cNvSpPr>
          <p:nvPr/>
        </p:nvSpPr>
        <p:spPr>
          <a:xfrm>
            <a:off x="4663870" y="2088851"/>
            <a:ext cx="2864261" cy="517945"/>
          </a:xfrm>
          <a:prstGeom prst="rect">
            <a:avLst/>
          </a:prstGeom>
          <a:ln w="28575">
            <a:solidFill>
              <a:schemeClr val="bg2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  <a:buFont typeface="Arial" panose="020B0604020202020204" pitchFamily="34" charset="0"/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Pre-hunting State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3096CA91-EE8F-3EB7-BDD2-E47F024F53B9}"/>
              </a:ext>
            </a:extLst>
          </p:cNvPr>
          <p:cNvSpPr txBox="1">
            <a:spLocks/>
          </p:cNvSpPr>
          <p:nvPr/>
        </p:nvSpPr>
        <p:spPr>
          <a:xfrm>
            <a:off x="8412480" y="2088852"/>
            <a:ext cx="2864260" cy="517945"/>
          </a:xfrm>
          <a:prstGeom prst="rect">
            <a:avLst/>
          </a:prstGeom>
          <a:ln w="28575">
            <a:solidFill>
              <a:schemeClr val="bg2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  <a:buFont typeface="Arial" panose="020B0604020202020204" pitchFamily="34" charset="0"/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Hunting State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3AB64B6-0DC4-265D-C637-30F280BA856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528131" y="2347824"/>
            <a:ext cx="884349" cy="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9">
            <a:extLst>
              <a:ext uri="{FF2B5EF4-FFF2-40B4-BE49-F238E27FC236}">
                <a16:creationId xmlns:a16="http://schemas.microsoft.com/office/drawing/2014/main" id="{ADA295C8-1C1E-C9C2-74A6-CA72B37124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3870" y="2783830"/>
            <a:ext cx="2864262" cy="272684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b="1" i="1" dirty="0"/>
              <a:t>5-6 minutes </a:t>
            </a:r>
            <a:r>
              <a:rPr lang="en-US" altLang="zh-CN" sz="2000" dirty="0"/>
              <a:t>after the tutorial, the ghost will </a:t>
            </a:r>
            <a:r>
              <a:rPr lang="en-US" altLang="zh-CN" sz="2000" b="1" i="1" dirty="0"/>
              <a:t>roar</a:t>
            </a:r>
            <a:r>
              <a:rPr lang="en-US" altLang="zh-CN" sz="2000" dirty="0"/>
              <a:t>, indicating it is </a:t>
            </a:r>
            <a:r>
              <a:rPr lang="en-US" altLang="zh-CN" sz="2000" b="1" i="1" dirty="0"/>
              <a:t>hunting</a:t>
            </a:r>
            <a:r>
              <a:rPr lang="en-US" altLang="zh-CN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/>
              <a:t>It will </a:t>
            </a:r>
            <a:r>
              <a:rPr lang="en-US" altLang="zh-CN" sz="2000" b="1" i="1" dirty="0"/>
              <a:t>flicker</a:t>
            </a:r>
            <a:r>
              <a:rPr lang="en-US" altLang="zh-CN" sz="2000" dirty="0"/>
              <a:t> and search for the player </a:t>
            </a:r>
            <a:r>
              <a:rPr lang="en-US" altLang="zh-CN" sz="2000" b="1" i="1" dirty="0"/>
              <a:t>in 10 seconds</a:t>
            </a:r>
            <a:r>
              <a:rPr lang="en-US" altLang="zh-CN" sz="2000" dirty="0"/>
              <a:t>.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EC61CC7-2E9E-8ABF-D7F5-C54C81FBA24C}"/>
              </a:ext>
            </a:extLst>
          </p:cNvPr>
          <p:cNvCxnSpPr>
            <a:cxnSpLocks/>
            <a:stCxn id="20" idx="3"/>
            <a:endCxn id="11" idx="1"/>
          </p:cNvCxnSpPr>
          <p:nvPr/>
        </p:nvCxnSpPr>
        <p:spPr>
          <a:xfrm>
            <a:off x="3779521" y="2347824"/>
            <a:ext cx="88434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9">
            <a:extLst>
              <a:ext uri="{FF2B5EF4-FFF2-40B4-BE49-F238E27FC236}">
                <a16:creationId xmlns:a16="http://schemas.microsoft.com/office/drawing/2014/main" id="{215FE99C-1D65-B25C-1913-C51A7618F60E}"/>
              </a:ext>
            </a:extLst>
          </p:cNvPr>
          <p:cNvSpPr txBox="1">
            <a:spLocks/>
          </p:cNvSpPr>
          <p:nvPr/>
        </p:nvSpPr>
        <p:spPr>
          <a:xfrm>
            <a:off x="915260" y="2088851"/>
            <a:ext cx="2864261" cy="517945"/>
          </a:xfrm>
          <a:prstGeom prst="rect">
            <a:avLst/>
          </a:prstGeom>
          <a:ln w="28575">
            <a:solidFill>
              <a:schemeClr val="bg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altLang="zh-CN" sz="2400" b="1" dirty="0"/>
              <a:t>Normal State</a:t>
            </a:r>
          </a:p>
        </p:txBody>
      </p:sp>
      <p:sp>
        <p:nvSpPr>
          <p:cNvPr id="24" name="文本占位符 9">
            <a:extLst>
              <a:ext uri="{FF2B5EF4-FFF2-40B4-BE49-F238E27FC236}">
                <a16:creationId xmlns:a16="http://schemas.microsoft.com/office/drawing/2014/main" id="{8603E7B9-1CF3-B57C-FDFD-3FEC3743D2AE}"/>
              </a:ext>
            </a:extLst>
          </p:cNvPr>
          <p:cNvSpPr txBox="1">
            <a:spLocks/>
          </p:cNvSpPr>
          <p:nvPr/>
        </p:nvSpPr>
        <p:spPr>
          <a:xfrm>
            <a:off x="8412478" y="2783831"/>
            <a:ext cx="2864262" cy="2894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b="0" i="0" dirty="0"/>
              <a:t>If the player is </a:t>
            </a:r>
            <a:r>
              <a:rPr lang="en-US" altLang="zh-CN" dirty="0"/>
              <a:t>spotted</a:t>
            </a:r>
            <a:r>
              <a:rPr lang="en-US" altLang="zh-CN" b="0" i="0" dirty="0"/>
              <a:t> by a ghost, it will </a:t>
            </a:r>
            <a:r>
              <a:rPr lang="en-US" altLang="zh-CN" dirty="0"/>
              <a:t>chase</a:t>
            </a:r>
            <a:r>
              <a:rPr lang="en-US" altLang="zh-CN" b="0" i="0" dirty="0"/>
              <a:t> him/her.</a:t>
            </a:r>
          </a:p>
          <a:p>
            <a:r>
              <a:rPr lang="en-US" altLang="zh-CN" b="0" i="0" dirty="0"/>
              <a:t>Hide in the </a:t>
            </a:r>
            <a:r>
              <a:rPr lang="en-US" altLang="zh-CN" dirty="0"/>
              <a:t>wardrobes</a:t>
            </a:r>
            <a:r>
              <a:rPr lang="en-US" altLang="zh-CN" b="0" i="0" dirty="0"/>
              <a:t> before the ghost finds the player.</a:t>
            </a:r>
          </a:p>
          <a:p>
            <a:r>
              <a:rPr lang="en-US" altLang="zh-CN" b="0" i="0" dirty="0"/>
              <a:t>The hunting state lasts </a:t>
            </a:r>
            <a:r>
              <a:rPr lang="en-US" altLang="zh-CN" dirty="0"/>
              <a:t>20-30 seconds</a:t>
            </a:r>
            <a:r>
              <a:rPr lang="en-US" altLang="zh-CN" b="0" i="0" dirty="0"/>
              <a:t>.</a:t>
            </a:r>
          </a:p>
        </p:txBody>
      </p:sp>
      <p:sp>
        <p:nvSpPr>
          <p:cNvPr id="25" name="文本占位符 9">
            <a:extLst>
              <a:ext uri="{FF2B5EF4-FFF2-40B4-BE49-F238E27FC236}">
                <a16:creationId xmlns:a16="http://schemas.microsoft.com/office/drawing/2014/main" id="{27F13DEF-D493-7692-27DC-AEEF5C1BA200}"/>
              </a:ext>
            </a:extLst>
          </p:cNvPr>
          <p:cNvSpPr txBox="1">
            <a:spLocks/>
          </p:cNvSpPr>
          <p:nvPr/>
        </p:nvSpPr>
        <p:spPr>
          <a:xfrm>
            <a:off x="915260" y="2783831"/>
            <a:ext cx="2864261" cy="1619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  <a:buFont typeface="Arial" panose="020B0604020202020204" pitchFamily="34" charset="0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The ghost will </a:t>
            </a:r>
            <a:r>
              <a:rPr lang="en-US" altLang="zh-CN" b="1" i="1" dirty="0"/>
              <a:t>randomly</a:t>
            </a:r>
            <a:r>
              <a:rPr lang="en-US" altLang="zh-CN" dirty="0"/>
              <a:t> appear in a room, but will </a:t>
            </a:r>
            <a:r>
              <a:rPr lang="en-US" altLang="zh-CN" b="1" i="1" dirty="0"/>
              <a:t>not attack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77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0D08B7-62C3-F651-67FE-F1F10404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CF99C7-62D4-7DEA-4E53-FE1C85A4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EDAB34-FCD0-3232-B8AC-633EB45A38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3900" y="2409473"/>
            <a:ext cx="10744200" cy="3829647"/>
          </a:xfrm>
        </p:spPr>
        <p:txBody>
          <a:bodyPr numCol="2">
            <a:noAutofit/>
          </a:bodyPr>
          <a:lstStyle/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Wraith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Cause paranormal events in two places at once.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Leave Handprints.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Pale Spirit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Hunt from any room.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 err="1"/>
              <a:t>Behaviour</a:t>
            </a:r>
            <a:r>
              <a:rPr lang="en-US" altLang="zh-CN" dirty="0"/>
              <a:t> impossible to predict.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Night Stalker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Tend to turn the lights off more often, increasing the chances of hunting in the dark.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 err="1"/>
              <a:t>Bloodfog</a:t>
            </a:r>
            <a:endParaRPr lang="en-US" altLang="zh-CN" sz="1800" b="1" dirty="0"/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When photographed, photo appears blurred &amp; noisy.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Cracked Face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Speed up if there is electrical or electronic equipment nearby.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Vengeful Spirit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Body flashes more frequently in Hunting Phase.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Silent Shade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Only faint footsteps can be heard at close range when hunting.</a:t>
            </a:r>
          </a:p>
          <a:p>
            <a:pPr marL="9000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CN" sz="1800" b="1" dirty="0"/>
              <a:t>Ethereal</a:t>
            </a:r>
          </a:p>
          <a:p>
            <a:pPr marL="360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Too timid, barely interacting with items in the scene.</a:t>
            </a:r>
            <a:endParaRPr lang="zh-CN" altLang="en-US" dirty="0"/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CC875366-B90B-0F98-A95B-6C026E67E352}"/>
              </a:ext>
            </a:extLst>
          </p:cNvPr>
          <p:cNvSpPr txBox="1">
            <a:spLocks/>
          </p:cNvSpPr>
          <p:nvPr/>
        </p:nvSpPr>
        <p:spPr>
          <a:xfrm>
            <a:off x="838200" y="632217"/>
            <a:ext cx="10515600" cy="94641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Core Gameplay – Detection phase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9" name="标题 2">
            <a:extLst>
              <a:ext uri="{FF2B5EF4-FFF2-40B4-BE49-F238E27FC236}">
                <a16:creationId xmlns:a16="http://schemas.microsoft.com/office/drawing/2014/main" id="{441030B6-D45A-4E95-9065-88EF3390063D}"/>
              </a:ext>
            </a:extLst>
          </p:cNvPr>
          <p:cNvSpPr txBox="1">
            <a:spLocks/>
          </p:cNvSpPr>
          <p:nvPr/>
        </p:nvSpPr>
        <p:spPr>
          <a:xfrm>
            <a:off x="3810454" y="1808733"/>
            <a:ext cx="4571092" cy="4255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altLang="zh-CN" sz="2400" dirty="0">
                <a:latin typeface="+mn-lt"/>
                <a:ea typeface="方正耀动黑 简" panose="02000500000000000000" pitchFamily="2" charset="-122"/>
                <a:cs typeface="+mn-cs"/>
              </a:rPr>
              <a:t>Ghost Features</a:t>
            </a:r>
            <a:endParaRPr lang="zh-CN" altLang="en-US" sz="2400" dirty="0">
              <a:latin typeface="+mn-lt"/>
              <a:ea typeface="方正耀动黑 简" panose="020005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21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328FB-F286-F091-A57B-A02B9619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32DD0F-3925-F04A-0168-A0627659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D32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D3200"/>
              </a:solidFill>
              <a:effectLst/>
              <a:uLnTx/>
              <a:uFillTx/>
              <a:latin typeface="Book Antiqua"/>
              <a:ea typeface="+mn-ea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0196CA-DCFF-566F-71EA-E5B7015A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Core Gameplay – Exorcism Phase 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9" name="页脚占位符 3">
            <a:extLst>
              <a:ext uri="{FF2B5EF4-FFF2-40B4-BE49-F238E27FC236}">
                <a16:creationId xmlns:a16="http://schemas.microsoft.com/office/drawing/2014/main" id="{B8C3D569-66B7-8C06-6E1E-B680A5E9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3234" y="6060953"/>
            <a:ext cx="3398763" cy="276999"/>
          </a:xfrm>
        </p:spPr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0A533B65-E9BA-83AA-3635-4A312B4917AB}"/>
              </a:ext>
            </a:extLst>
          </p:cNvPr>
          <p:cNvSpPr txBox="1">
            <a:spLocks/>
          </p:cNvSpPr>
          <p:nvPr/>
        </p:nvSpPr>
        <p:spPr>
          <a:xfrm>
            <a:off x="4773168" y="2416570"/>
            <a:ext cx="6490770" cy="293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400" b="1" i="1" dirty="0"/>
              <a:t>Five</a:t>
            </a:r>
            <a:r>
              <a:rPr lang="en-US" altLang="zh-CN" sz="2400" dirty="0"/>
              <a:t> exorcism methods, </a:t>
            </a:r>
            <a:r>
              <a:rPr lang="en-US" altLang="zh-CN" sz="2400" b="1" i="1" dirty="0"/>
              <a:t>each</a:t>
            </a:r>
            <a:r>
              <a:rPr lang="en-US" altLang="zh-CN" sz="2400" dirty="0"/>
              <a:t> of which is useful for a particular ghost type.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400" b="1" i="1" dirty="0"/>
              <a:t>Correct</a:t>
            </a:r>
            <a:r>
              <a:rPr lang="en-US" altLang="zh-CN" sz="2400" dirty="0"/>
              <a:t> exorcism leads to ghost banishment and game success.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400" b="1" i="1" dirty="0"/>
              <a:t>Incorrect</a:t>
            </a:r>
            <a:r>
              <a:rPr lang="en-US" altLang="zh-CN" sz="2400" dirty="0"/>
              <a:t> exorcism leads to a deadly ghost hunt and game failure.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35F8A7-96C6-84E9-3D95-7D1356FD1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62" y="1964955"/>
            <a:ext cx="3689658" cy="401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6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7A56-9789-A9E9-5263-8059E79C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B1DAB7E-BD39-7E78-3EF4-6F04E24D5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Controls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860D4E-79CD-1AA2-B5BD-F968718ED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26" y="2325063"/>
            <a:ext cx="2974975" cy="424732"/>
          </a:xfr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n-lt"/>
              </a:rPr>
              <a:t>Basic Movements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E23330D-E6BD-843F-AE21-35254B114E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1225" y="2888476"/>
            <a:ext cx="2974975" cy="1631216"/>
          </a:xfrm>
        </p:spPr>
        <p:txBody>
          <a:bodyPr vert="horz" wrap="square" lIns="0" tIns="45720" rIns="36000" bIns="4572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Continuous Move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Teleport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Smooth Turn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Snap Turn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Crouch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837C6CD-0318-4C2E-4FBD-9B5E5BE1CD0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608512" y="2324294"/>
            <a:ext cx="2974975" cy="425501"/>
          </a:xfr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n-lt"/>
              </a:rPr>
              <a:t>Basic Interactions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C001EB3-1016-9E1B-30A5-5DF133BD68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36570" y="2888476"/>
            <a:ext cx="3918858" cy="1631216"/>
          </a:xfrm>
        </p:spPr>
        <p:txBody>
          <a:bodyPr vert="horz" wrap="square" lIns="0" tIns="45720" rIns="36000" bIns="4572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Grab Items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“Telekinesis” (Grab items remotely)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Use Equipment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Touch Switches/Buttons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Toggle Game Menu</a:t>
            </a: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80851156-829A-DB46-BACB-448ED5CD2E6B}"/>
              </a:ext>
            </a:extLst>
          </p:cNvPr>
          <p:cNvSpPr txBox="1">
            <a:spLocks/>
          </p:cNvSpPr>
          <p:nvPr/>
        </p:nvSpPr>
        <p:spPr>
          <a:xfrm>
            <a:off x="8305800" y="2324294"/>
            <a:ext cx="2974976" cy="4255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+mn-lt"/>
              </a:rPr>
              <a:t>Character Abilities</a:t>
            </a:r>
          </a:p>
        </p:txBody>
      </p:sp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A8FF458-7219-303D-6B33-D2C2C0A36B5E}"/>
              </a:ext>
            </a:extLst>
          </p:cNvPr>
          <p:cNvSpPr txBox="1">
            <a:spLocks/>
          </p:cNvSpPr>
          <p:nvPr/>
        </p:nvSpPr>
        <p:spPr>
          <a:xfrm>
            <a:off x="8305800" y="2749795"/>
            <a:ext cx="2974975" cy="2215991"/>
          </a:xfrm>
          <a:prstGeom prst="rect">
            <a:avLst/>
          </a:prstGeom>
        </p:spPr>
        <p:txBody>
          <a:bodyPr vert="horz" wrap="square" lIns="0" tIns="45720" rIns="36000" bIns="45720" rtlCol="0">
            <a:spAutoFit/>
          </a:bodyPr>
          <a:lstStyle>
            <a:lvl1pPr marL="180000" indent="-180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Interact with the equipment to obtain the parameters of the ghost activity.</a:t>
            </a:r>
          </a:p>
          <a:p>
            <a:r>
              <a:rPr lang="en-US" altLang="zh-CN" dirty="0"/>
              <a:t>Evacuate to the safe zones to avoid the ghost hunt.</a:t>
            </a:r>
          </a:p>
          <a:p>
            <a:r>
              <a:rPr lang="en-US" altLang="zh-CN" dirty="0"/>
              <a:t>Use the incense to prevent the ghost from hunting you (only once).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D4E11D6-A6C6-CEE2-3C85-CF94FC110416}"/>
              </a:ext>
            </a:extLst>
          </p:cNvPr>
          <p:cNvSpPr txBox="1">
            <a:spLocks/>
          </p:cNvSpPr>
          <p:nvPr/>
        </p:nvSpPr>
        <p:spPr>
          <a:xfrm>
            <a:off x="5821279" y="6273660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5E168-DA5E-4888-8D8A-92B118324C1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7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19CB-55E2-BAC5-6D43-56C9E540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77FAEE0-3A47-B206-F7A1-E052785A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Camera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22DFB77-50F4-16E0-3CFB-C8595A993944}"/>
              </a:ext>
            </a:extLst>
          </p:cNvPr>
          <p:cNvSpPr txBox="1">
            <a:spLocks/>
          </p:cNvSpPr>
          <p:nvPr/>
        </p:nvSpPr>
        <p:spPr>
          <a:xfrm>
            <a:off x="5821279" y="6273660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5E168-DA5E-4888-8D8A-92B118324C1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F399AF5-E189-BBD9-FADB-3411E326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23" y="2017328"/>
            <a:ext cx="4325787" cy="40882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1F5236-2967-F242-CEAE-42D72A5A5A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63" r="3723"/>
          <a:stretch/>
        </p:blipFill>
        <p:spPr>
          <a:xfrm>
            <a:off x="5739239" y="2017328"/>
            <a:ext cx="5514548" cy="408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2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CC3B-C27F-AF7A-B908-18355870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FD6788-C202-C97A-E239-890F6A1E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43A06F-4AE2-C154-9924-765427F3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B243F3-D99D-8EB8-9CE9-06E36B82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649" y="2524962"/>
            <a:ext cx="9833097" cy="454353"/>
          </a:xfrm>
        </p:spPr>
        <p:txBody>
          <a:bodyPr lIns="72000" tIns="36000" rIns="36000" bIns="36000" anchor="ctr" anchorCtr="0"/>
          <a:lstStyle/>
          <a:p>
            <a:pPr algn="ctr"/>
            <a:endParaRPr lang="zh-CN" altLang="en-US" sz="3200" dirty="0">
              <a:latin typeface="+mn-lt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6C7E66-6608-D4FE-151E-0909549F16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1" y="1797363"/>
            <a:ext cx="10515599" cy="629105"/>
          </a:xfrm>
        </p:spPr>
        <p:txBody>
          <a:bodyPr/>
          <a:lstStyle/>
          <a:p>
            <a:r>
              <a:rPr lang="en-US" altLang="zh-CN" dirty="0"/>
              <a:t>Progression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8CD63F2-67A9-C2CE-10A1-4BEC98E9FB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59649" y="3245689"/>
            <a:ext cx="4365625" cy="2231380"/>
          </a:xfrm>
        </p:spPr>
        <p:txBody>
          <a:bodyPr vert="horz" wrap="square" lIns="0" tIns="45720" rIns="36000" bIns="4572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What is it?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Scientific instruments are devices help the player to gain more information about paranormal </a:t>
            </a:r>
            <a:r>
              <a:rPr lang="en-US" altLang="zh-CN" sz="1400" dirty="0" err="1"/>
              <a:t>activites</a:t>
            </a:r>
            <a:endParaRPr lang="en-US" altLang="zh-CN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Determine the historical background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These include Infrared Cameras, EMF detector, thermometer etc.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A4559E9-DC0D-D6DF-77C4-64A6AD3ED1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245689"/>
            <a:ext cx="4365625" cy="2200602"/>
          </a:xfrm>
        </p:spPr>
        <p:txBody>
          <a:bodyPr vert="horz" wrap="square" lIns="0" tIns="45720" rIns="36000" bIns="4572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How to play?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altLang="zh-CN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/>
              <a:t>These tools enhance players' sense of operation in VR games through knobs and buttons.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/>
              <a:t>And these operations will be taught to players in the guidance phase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88BCC06-D711-C2EE-6677-25380E9A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Core Mechanics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57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B4B356-A4DA-1065-9FEF-92B8409A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8F92EF-492F-3554-C8D5-56BE705E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VR PROJECT FINAL</a:t>
            </a:r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5CBE7B-8454-5E6C-BE69-4A4B8270A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9EEB31-FD77-AF79-D501-F71F1A336B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FF98951-4B85-9794-368D-D0656CCB4DA8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573BE8B-FC66-A3EA-AC45-F417064203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3DB81754-F5AB-045D-99B4-280D407911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700CB948-A669-3E12-0B63-756C912F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/>
          <a:lstStyle/>
          <a:p>
            <a:r>
              <a:rPr lang="en-US" altLang="zh-CN" dirty="0">
                <a:latin typeface="+mn-lt"/>
              </a:rPr>
              <a:t>LOOOOOOOOP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195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62B1B-302A-7F12-EF0E-390B5361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DCA985-F104-8EDE-D044-CCFE20F1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8C64D5-C8FD-641E-ABF7-504E4FA0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9DE9EA-0FCA-9D36-8FB3-AA9523061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649" y="2524962"/>
            <a:ext cx="9833097" cy="454353"/>
          </a:xfrm>
        </p:spPr>
        <p:txBody>
          <a:bodyPr lIns="72000" tIns="36000" rIns="36000" bIns="36000" anchor="ctr" anchorCtr="0"/>
          <a:lstStyle/>
          <a:p>
            <a:pPr algn="ctr"/>
            <a:endParaRPr lang="zh-CN" altLang="en-US" sz="3200" dirty="0">
              <a:latin typeface="+mn-lt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FD367F-182B-2D9F-D421-BC28FADE41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1" y="1797363"/>
            <a:ext cx="10515599" cy="629105"/>
          </a:xfrm>
        </p:spPr>
        <p:txBody>
          <a:bodyPr/>
          <a:lstStyle/>
          <a:p>
            <a:r>
              <a:rPr lang="en-US" altLang="zh-CN" dirty="0"/>
              <a:t>Progression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96E0386-9F0B-EC6F-8A9B-12D66BC3F4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59649" y="3245689"/>
            <a:ext cx="4365625" cy="2231380"/>
          </a:xfrm>
        </p:spPr>
        <p:txBody>
          <a:bodyPr vert="horz" wrap="square" lIns="0" tIns="45720" rIns="36000" bIns="4572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What is it?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Scientific instruments are devices help the player to gain more information about paranormal </a:t>
            </a:r>
            <a:r>
              <a:rPr lang="en-US" altLang="zh-CN" sz="1400" dirty="0" err="1"/>
              <a:t>activites</a:t>
            </a:r>
            <a:endParaRPr lang="en-US" altLang="zh-CN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Determine the historical background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/>
              <a:t>These include Infrared Cameras, EMF detector, thermometer etc.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0ABAFD1-C949-DEAC-8261-44BA8856F9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245689"/>
            <a:ext cx="4365625" cy="2200602"/>
          </a:xfrm>
        </p:spPr>
        <p:txBody>
          <a:bodyPr vert="horz" wrap="square" lIns="0" tIns="45720" rIns="36000" bIns="4572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/>
              <a:t>How to play?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altLang="zh-CN" dirty="0"/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/>
              <a:t>These tools enhance players' sense of operation in VR games through knobs and buttons.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/>
              <a:t>And these operations will be taught to players in the guidance phase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6E7D32AB-A8E4-D4F4-FAA0-5496ED7F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5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Game Art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1369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0094-99DC-E0CF-618F-0AA51C00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9C64F0-50BB-1539-2483-8305BE9F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2B6844-4DFB-16D7-6819-4DA297BE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Marketing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CF44A4-C7AE-B2A7-CB94-F9B54C603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2B016F-10D5-3735-7245-A20DFE888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Target Audience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C3653FC-609C-4EC1-3687-4D7A64CEC54E}"/>
              </a:ext>
            </a:extLst>
          </p:cNvPr>
          <p:cNvGrpSpPr/>
          <p:nvPr/>
        </p:nvGrpSpPr>
        <p:grpSpPr>
          <a:xfrm>
            <a:off x="951791" y="3330050"/>
            <a:ext cx="3094679" cy="857588"/>
            <a:chOff x="911224" y="3797217"/>
            <a:chExt cx="3094679" cy="857588"/>
          </a:xfrm>
        </p:grpSpPr>
        <p:sp>
          <p:nvSpPr>
            <p:cNvPr id="6" name="文本占位符 3">
              <a:extLst>
                <a:ext uri="{FF2B5EF4-FFF2-40B4-BE49-F238E27FC236}">
                  <a16:creationId xmlns:a16="http://schemas.microsoft.com/office/drawing/2014/main" id="{52E4887F-4297-94BE-9B5A-4BEC4353B975}"/>
                </a:ext>
              </a:extLst>
            </p:cNvPr>
            <p:cNvSpPr txBox="1">
              <a:spLocks/>
            </p:cNvSpPr>
            <p:nvPr/>
          </p:nvSpPr>
          <p:spPr>
            <a:xfrm>
              <a:off x="971076" y="3797217"/>
              <a:ext cx="2974975" cy="48102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defPPr>
                <a:defRPr lang="ru-RU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>
                  <a:solidFill>
                    <a:schemeClr val="bg2"/>
                  </a:solidFill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2"/>
                  </a:solidFill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2"/>
                  </a:solidFill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Age 16+</a:t>
              </a: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88FE904E-4AD7-E6F5-EAE3-385848BD44B6}"/>
                </a:ext>
              </a:extLst>
            </p:cNvPr>
            <p:cNvSpPr txBox="1">
              <a:spLocks/>
            </p:cNvSpPr>
            <p:nvPr/>
          </p:nvSpPr>
          <p:spPr>
            <a:xfrm>
              <a:off x="911224" y="4305103"/>
              <a:ext cx="3094679" cy="349702"/>
            </a:xfrm>
            <a:prstGeom prst="rect">
              <a:avLst/>
            </a:prstGeom>
          </p:spPr>
          <p:txBody>
            <a:bodyPr vert="horz" wrap="square" lIns="72000" tIns="36000" rIns="36000" bIns="3600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Horror Genre</a:t>
              </a:r>
              <a:endPara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A04E26-572B-6EC0-3511-35A3362A2202}"/>
              </a:ext>
            </a:extLst>
          </p:cNvPr>
          <p:cNvGrpSpPr/>
          <p:nvPr/>
        </p:nvGrpSpPr>
        <p:grpSpPr>
          <a:xfrm>
            <a:off x="8259120" y="3330050"/>
            <a:ext cx="3094680" cy="1709460"/>
            <a:chOff x="905112" y="3658782"/>
            <a:chExt cx="3094680" cy="1709460"/>
          </a:xfrm>
        </p:grpSpPr>
        <p:sp>
          <p:nvSpPr>
            <p:cNvPr id="13" name="文本占位符 3">
              <a:extLst>
                <a:ext uri="{FF2B5EF4-FFF2-40B4-BE49-F238E27FC236}">
                  <a16:creationId xmlns:a16="http://schemas.microsoft.com/office/drawing/2014/main" id="{385CC713-B55B-BB83-523D-4C640E99ECBC}"/>
                </a:ext>
              </a:extLst>
            </p:cNvPr>
            <p:cNvSpPr txBox="1">
              <a:spLocks/>
            </p:cNvSpPr>
            <p:nvPr/>
          </p:nvSpPr>
          <p:spPr>
            <a:xfrm>
              <a:off x="905112" y="3658782"/>
              <a:ext cx="3094679" cy="75790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defPPr>
                <a:defRPr lang="ru-RU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>
                  <a:solidFill>
                    <a:schemeClr val="bg2"/>
                  </a:solidFill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2"/>
                  </a:solidFill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2"/>
                  </a:solidFill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altLang="zh-CN" sz="2400" dirty="0" err="1"/>
                <a:t>Detetive</a:t>
              </a:r>
              <a:r>
                <a:rPr lang="en-US" altLang="zh-CN" sz="2400" dirty="0"/>
                <a:t> </a:t>
              </a:r>
              <a:r>
                <a:rPr lang="en-US" sz="2400" dirty="0"/>
                <a:t>Game Enthusiasts</a:t>
              </a:r>
            </a:p>
          </p:txBody>
        </p:sp>
        <p:sp>
          <p:nvSpPr>
            <p:cNvPr id="14" name="文本占位符 6">
              <a:extLst>
                <a:ext uri="{FF2B5EF4-FFF2-40B4-BE49-F238E27FC236}">
                  <a16:creationId xmlns:a16="http://schemas.microsoft.com/office/drawing/2014/main" id="{C243F828-AF10-36A2-ED9C-067288698B88}"/>
                </a:ext>
              </a:extLst>
            </p:cNvPr>
            <p:cNvSpPr txBox="1">
              <a:spLocks/>
            </p:cNvSpPr>
            <p:nvPr/>
          </p:nvSpPr>
          <p:spPr>
            <a:xfrm>
              <a:off x="905113" y="4464542"/>
              <a:ext cx="3094679" cy="903700"/>
            </a:xfrm>
            <a:prstGeom prst="rect">
              <a:avLst/>
            </a:prstGeom>
          </p:spPr>
          <p:txBody>
            <a:bodyPr vert="horz" wrap="square" lIns="72000" tIns="36000" rIns="36000" bIns="3600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800" dirty="0">
                  <a:solidFill>
                    <a:schemeClr val="bg2">
                      <a:lumMod val="20000"/>
                      <a:lumOff val="80000"/>
                    </a:schemeClr>
                  </a:solidFill>
                </a:rPr>
                <a:t>Players who like detective game and solving cases by searching clues.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BEC73D-0268-D5CC-5B3D-A0F53AC3E450}"/>
              </a:ext>
            </a:extLst>
          </p:cNvPr>
          <p:cNvGrpSpPr/>
          <p:nvPr/>
        </p:nvGrpSpPr>
        <p:grpSpPr>
          <a:xfrm>
            <a:off x="4281195" y="3330050"/>
            <a:ext cx="3629608" cy="1489650"/>
            <a:chOff x="4281195" y="2796530"/>
            <a:chExt cx="3629608" cy="1489650"/>
          </a:xfrm>
        </p:grpSpPr>
        <p:sp>
          <p:nvSpPr>
            <p:cNvPr id="10" name="文本占位符 3">
              <a:extLst>
                <a:ext uri="{FF2B5EF4-FFF2-40B4-BE49-F238E27FC236}">
                  <a16:creationId xmlns:a16="http://schemas.microsoft.com/office/drawing/2014/main" id="{52B831ED-0321-15F1-6B15-1BF42526E2A7}"/>
                </a:ext>
              </a:extLst>
            </p:cNvPr>
            <p:cNvSpPr txBox="1">
              <a:spLocks/>
            </p:cNvSpPr>
            <p:nvPr/>
          </p:nvSpPr>
          <p:spPr>
            <a:xfrm>
              <a:off x="4608512" y="2796530"/>
              <a:ext cx="2974975" cy="42550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defPPr>
                <a:defRPr lang="ru-RU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>
                  <a:solidFill>
                    <a:schemeClr val="bg2"/>
                  </a:solidFill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2"/>
                  </a:solidFill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2"/>
                  </a:solidFill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2"/>
                  </a:solidFill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2400" dirty="0"/>
                <a:t>VR Players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CD17C7F-1F5B-A564-C638-6700F07BA0FA}"/>
                </a:ext>
              </a:extLst>
            </p:cNvPr>
            <p:cNvSpPr txBox="1"/>
            <p:nvPr/>
          </p:nvSpPr>
          <p:spPr>
            <a:xfrm>
              <a:off x="4281195" y="3362850"/>
              <a:ext cx="362960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7F1E4"/>
                  </a:solidFill>
                </a:rPr>
                <a:t>Players who already own the VR device and are willing to purchase VR games.</a:t>
              </a:r>
              <a:endParaRPr lang="zh-CN" altLang="en-US" dirty="0">
                <a:solidFill>
                  <a:srgbClr val="F7F1E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1755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1406-661B-A4B5-090C-C1D63C91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1F3076C-4354-15B4-49EF-C9E867AA83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/>
              <a:t>2025.4.24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6A0CDE3-F0DC-025A-4E1D-003B5294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7200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Thank You</a:t>
            </a:r>
            <a:endParaRPr lang="zh-CN" altLang="en-US" sz="7200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00FA8A-51BB-4F77-4AB0-19352AEF95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>SHVFS GD12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8216FE-DB28-CD40-53A6-9A26937BE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Counter Ghost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294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F88B3D-4570-19B7-681E-6A093ED9F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95CDE32-9C32-2145-A94A-D3A0057C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217"/>
            <a:ext cx="10515600" cy="946413"/>
          </a:xfrm>
        </p:spPr>
        <p:txBody>
          <a:bodyPr/>
          <a:lstStyle/>
          <a:p>
            <a:r>
              <a:rPr lang="en-US" altLang="zh-CN" dirty="0">
                <a:latin typeface="Script MT Bold" panose="03040602040607080904" pitchFamily="66" charset="0"/>
                <a:ea typeface="方正耀动黑 简" panose="02000500000000000000" pitchFamily="2" charset="-122"/>
              </a:rPr>
              <a:t>Dev Info</a:t>
            </a:r>
            <a:endParaRPr lang="zh-CN" altLang="en-US" dirty="0">
              <a:latin typeface="Script MT Bold" panose="03040602040607080904" pitchFamily="66" charset="0"/>
              <a:ea typeface="方正耀动黑 简" panose="02000500000000000000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5C21B0-72F6-A8BF-D5AA-B03FDB71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VR PROJECT FINAL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B32689-B35A-6005-9849-D27A56661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ea typeface="方正耀动黑 简" panose="02000500000000000000" pitchFamily="2" charset="-122"/>
              </a:rPr>
              <a:t>Counter Ghost</a:t>
            </a:r>
            <a:endParaRPr lang="en-US" altLang="zh-CN" sz="24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6AEDB2-93C7-9BD1-E96E-24DC2BD4D49E}"/>
              </a:ext>
            </a:extLst>
          </p:cNvPr>
          <p:cNvGrpSpPr/>
          <p:nvPr/>
        </p:nvGrpSpPr>
        <p:grpSpPr>
          <a:xfrm>
            <a:off x="951791" y="3393989"/>
            <a:ext cx="10288417" cy="1411585"/>
            <a:chOff x="928749" y="3339151"/>
            <a:chExt cx="10288417" cy="141158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0C6F099-5D69-DA77-1A1D-9C45BAD499AE}"/>
                </a:ext>
              </a:extLst>
            </p:cNvPr>
            <p:cNvGrpSpPr/>
            <p:nvPr/>
          </p:nvGrpSpPr>
          <p:grpSpPr>
            <a:xfrm>
              <a:off x="928749" y="3339151"/>
              <a:ext cx="3094679" cy="857587"/>
              <a:chOff x="911224" y="3797218"/>
              <a:chExt cx="3094679" cy="857587"/>
            </a:xfrm>
          </p:grpSpPr>
          <p:sp>
            <p:nvSpPr>
              <p:cNvPr id="6" name="文本占位符 3">
                <a:extLst>
                  <a:ext uri="{FF2B5EF4-FFF2-40B4-BE49-F238E27FC236}">
                    <a16:creationId xmlns:a16="http://schemas.microsoft.com/office/drawing/2014/main" id="{35146236-0FC2-27C6-6E4F-7782C4483D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1076" y="3797218"/>
                <a:ext cx="2974975" cy="48102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chemeClr val="bg2"/>
                    </a:solidFill>
                  </a:rPr>
                  <a:t>Genre</a:t>
                </a:r>
              </a:p>
            </p:txBody>
          </p:sp>
          <p:sp>
            <p:nvSpPr>
              <p:cNvPr id="7" name="文本占位符 6">
                <a:extLst>
                  <a:ext uri="{FF2B5EF4-FFF2-40B4-BE49-F238E27FC236}">
                    <a16:creationId xmlns:a16="http://schemas.microsoft.com/office/drawing/2014/main" id="{73C94E68-C5BE-94C3-A5B9-E2746890BF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1224" y="4305103"/>
                <a:ext cx="3094679" cy="349702"/>
              </a:xfrm>
              <a:prstGeom prst="rect">
                <a:avLst/>
              </a:prstGeom>
            </p:spPr>
            <p:txBody>
              <a:bodyPr vert="horz" wrap="square" lIns="72000" tIns="36000" rIns="36000" bIns="3600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Horror Puzzle Game 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CB1FB1A-9B39-0175-FE84-F0A9BBFB30E6}"/>
                </a:ext>
              </a:extLst>
            </p:cNvPr>
            <p:cNvGrpSpPr/>
            <p:nvPr/>
          </p:nvGrpSpPr>
          <p:grpSpPr>
            <a:xfrm>
              <a:off x="4525618" y="3339151"/>
              <a:ext cx="3094679" cy="857587"/>
              <a:chOff x="865138" y="3797218"/>
              <a:chExt cx="3094679" cy="857587"/>
            </a:xfrm>
          </p:grpSpPr>
          <p:sp>
            <p:nvSpPr>
              <p:cNvPr id="10" name="文本占位符 3">
                <a:extLst>
                  <a:ext uri="{FF2B5EF4-FFF2-40B4-BE49-F238E27FC236}">
                    <a16:creationId xmlns:a16="http://schemas.microsoft.com/office/drawing/2014/main" id="{F3773C13-F731-2042-DA34-BD731CA76E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1225" y="3797218"/>
                <a:ext cx="2974975" cy="48102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defPPr>
                  <a:defRPr lang="ru-RU"/>
                </a:defPPr>
                <a:lvl1pPr indent="0"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>
                    <a:solidFill>
                      <a:schemeClr val="bg2"/>
                    </a:solidFill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2"/>
                    </a:solidFill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E</a:t>
                </a:r>
                <a:r>
                  <a:rPr lang="en-US" altLang="zh-CN" dirty="0"/>
                  <a:t>ngine</a:t>
                </a:r>
                <a:endParaRPr lang="en-US" dirty="0"/>
              </a:p>
            </p:txBody>
          </p:sp>
          <p:sp>
            <p:nvSpPr>
              <p:cNvPr id="11" name="文本占位符 6">
                <a:extLst>
                  <a:ext uri="{FF2B5EF4-FFF2-40B4-BE49-F238E27FC236}">
                    <a16:creationId xmlns:a16="http://schemas.microsoft.com/office/drawing/2014/main" id="{448698C2-A2C1-EF64-E2F8-97156FCEFF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5138" y="4305103"/>
                <a:ext cx="3094679" cy="349702"/>
              </a:xfrm>
              <a:prstGeom prst="rect">
                <a:avLst/>
              </a:prstGeom>
            </p:spPr>
            <p:txBody>
              <a:bodyPr vert="horz" wrap="square" lIns="72000" tIns="36000" rIns="36000" bIns="3600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U</a:t>
                </a:r>
                <a:r>
                  <a:rPr lang="en-US" altLang="zh-CN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nreal Engine 5.4.4</a:t>
                </a:r>
                <a:endParaRPr lang="en-US" sz="1800" dirty="0">
                  <a:solidFill>
                    <a:schemeClr val="bg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675E994-A0B2-BADB-F82C-1E7DCDFB66BA}"/>
                </a:ext>
              </a:extLst>
            </p:cNvPr>
            <p:cNvGrpSpPr/>
            <p:nvPr/>
          </p:nvGrpSpPr>
          <p:grpSpPr>
            <a:xfrm>
              <a:off x="8122487" y="3339151"/>
              <a:ext cx="3094679" cy="1411585"/>
              <a:chOff x="791521" y="3797218"/>
              <a:chExt cx="3094679" cy="1411585"/>
            </a:xfrm>
          </p:grpSpPr>
          <p:sp>
            <p:nvSpPr>
              <p:cNvPr id="13" name="文本占位符 3">
                <a:extLst>
                  <a:ext uri="{FF2B5EF4-FFF2-40B4-BE49-F238E27FC236}">
                    <a16:creationId xmlns:a16="http://schemas.microsoft.com/office/drawing/2014/main" id="{A11B33A2-B77F-3C3A-8B0E-9F007600E8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373" y="3797218"/>
                <a:ext cx="2974975" cy="48102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defPPr>
                  <a:defRPr lang="ru-RU"/>
                </a:defPPr>
                <a:lvl1pPr indent="0"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>
                    <a:solidFill>
                      <a:schemeClr val="bg2"/>
                    </a:solidFill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2"/>
                    </a:solidFill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Key Concepts</a:t>
                </a:r>
              </a:p>
            </p:txBody>
          </p:sp>
          <p:sp>
            <p:nvSpPr>
              <p:cNvPr id="14" name="文本占位符 6">
                <a:extLst>
                  <a:ext uri="{FF2B5EF4-FFF2-40B4-BE49-F238E27FC236}">
                    <a16:creationId xmlns:a16="http://schemas.microsoft.com/office/drawing/2014/main" id="{BDFEC378-5761-C4C4-186E-FB892805BD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521" y="4305103"/>
                <a:ext cx="3094679" cy="903700"/>
              </a:xfrm>
              <a:prstGeom prst="rect">
                <a:avLst/>
              </a:prstGeom>
            </p:spPr>
            <p:txBody>
              <a:bodyPr vert="horz" wrap="square" lIns="72000" tIns="36000" rIns="36000" bIns="3600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Haunting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Paranormal Investigation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Exorcism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93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23">
      <a:dk1>
        <a:sysClr val="windowText" lastClr="000000"/>
      </a:dk1>
      <a:lt1>
        <a:sysClr val="window" lastClr="FFFFFF"/>
      </a:lt1>
      <a:dk2>
        <a:srgbClr val="6D3200"/>
      </a:dk2>
      <a:lt2>
        <a:srgbClr val="D8B97A"/>
      </a:lt2>
      <a:accent1>
        <a:srgbClr val="306994"/>
      </a:accent1>
      <a:accent2>
        <a:srgbClr val="39577A"/>
      </a:accent2>
      <a:accent3>
        <a:srgbClr val="7E5E34"/>
      </a:accent3>
      <a:accent4>
        <a:srgbClr val="B7B374"/>
      </a:accent4>
      <a:accent5>
        <a:srgbClr val="2C1600"/>
      </a:accent5>
      <a:accent6>
        <a:srgbClr val="864A3F"/>
      </a:accent6>
      <a:hlink>
        <a:srgbClr val="D8B97A"/>
      </a:hlink>
      <a:folHlink>
        <a:srgbClr val="D8B97A"/>
      </a:folHlink>
    </a:clrScheme>
    <a:fontScheme name="Custom 20">
      <a:majorFont>
        <a:latin typeface="Edwardian Script ITC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F22987246" id="{1ECEC743-70EC-4369-A69D-6FC9CB1502C9}" vid="{B09ADE66-1E22-4AC4-85AB-DDB977FC4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520B0621022B4CA37193CEB4BD4006" ma:contentTypeVersion="13" ma:contentTypeDescription="Create a new document." ma:contentTypeScope="" ma:versionID="cfe9ef737fb2ae655456fe470e3de886">
  <xsd:schema xmlns:xsd="http://www.w3.org/2001/XMLSchema" xmlns:xs="http://www.w3.org/2001/XMLSchema" xmlns:p="http://schemas.microsoft.com/office/2006/metadata/properties" xmlns:ns2="45e91f00-0250-4a60-970e-f6ee534b485a" xmlns:ns3="03902022-5f07-415b-99da-02f7a843c2d0" targetNamespace="http://schemas.microsoft.com/office/2006/metadata/properties" ma:root="true" ma:fieldsID="1f8918928c275871385115b2196c7a39" ns2:_="" ns3:_="">
    <xsd:import namespace="45e91f00-0250-4a60-970e-f6ee534b485a"/>
    <xsd:import namespace="03902022-5f07-415b-99da-02f7a843c2d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91f00-0250-4a60-970e-f6ee534b485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02022-5f07-415b-99da-02f7a843c2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03902022-5f07-415b-99da-02f7a843c2d0" xsi:nil="true"/>
  </documentManagement>
</p:properties>
</file>

<file path=customXml/itemProps1.xml><?xml version="1.0" encoding="utf-8"?>
<ds:datastoreItem xmlns:ds="http://schemas.openxmlformats.org/officeDocument/2006/customXml" ds:itemID="{ABE53FA0-B426-4F62-ACEE-4DDD85EAC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e91f00-0250-4a60-970e-f6ee534b485a"/>
    <ds:schemaRef ds:uri="03902022-5f07-415b-99da-02f7a843c2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B73D12-7B2D-4DCB-83EA-85380446C9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680A15-7E49-40AD-A17E-9EA098747866}">
  <ds:schemaRefs>
    <ds:schemaRef ds:uri="http://schemas.microsoft.com/office/2006/metadata/properties"/>
    <ds:schemaRef ds:uri="http://schemas.microsoft.com/office/infopath/2007/PartnerControls"/>
    <ds:schemaRef ds:uri="03902022-5f07-415b-99da-02f7a843c2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TF22987246</Template>
  <TotalTime>0</TotalTime>
  <Words>883</Words>
  <Application>Microsoft Office PowerPoint</Application>
  <PresentationFormat>宽屏</PresentationFormat>
  <Paragraphs>186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方正耀动黑 简</vt:lpstr>
      <vt:lpstr>Arial</vt:lpstr>
      <vt:lpstr>Book Antiqua</vt:lpstr>
      <vt:lpstr>Calibri</vt:lpstr>
      <vt:lpstr>Edwardian Script ITC</vt:lpstr>
      <vt:lpstr>Script MT Bold</vt:lpstr>
      <vt:lpstr>Wingdings</vt:lpstr>
      <vt:lpstr>Office 主题​​</vt:lpstr>
      <vt:lpstr>Counter Ghost</vt:lpstr>
      <vt:lpstr>Game Experience </vt:lpstr>
      <vt:lpstr>STORRRRY</vt:lpstr>
      <vt:lpstr>Phasmophobia</vt:lpstr>
      <vt:lpstr>Contagion VR: Outbreak</vt:lpstr>
      <vt:lpstr>Game Pillars</vt:lpstr>
      <vt:lpstr>Gameplay Flow</vt:lpstr>
      <vt:lpstr>Core Gameplay – Detection phase</vt:lpstr>
      <vt:lpstr>Core Gameplay – Ghost ai</vt:lpstr>
      <vt:lpstr>PowerPoint 演示文稿</vt:lpstr>
      <vt:lpstr>Core Gameplay – Exorcism Phase </vt:lpstr>
      <vt:lpstr>Controls</vt:lpstr>
      <vt:lpstr>Camera</vt:lpstr>
      <vt:lpstr>Core Mechanics</vt:lpstr>
      <vt:lpstr>LOOOOOOOOP</vt:lpstr>
      <vt:lpstr>Game Art</vt:lpstr>
      <vt:lpstr>Marketing</vt:lpstr>
      <vt:lpstr>Thank You</vt:lpstr>
      <vt:lpstr>Dev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2019-08-23T05:54:53Z</dcterms:created>
  <dcterms:modified xsi:type="dcterms:W3CDTF">2025-05-26T10:14:15Z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0x0101004D520B0621022B4CA37193CEB4BD4006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t-weiszh@microsoft.com</vt:lpwstr>
  </property>
  <property fmtid="{D5CDD505-2E9C-101B-9397-08002B2CF9AE}" pid="6" name="MSIP_Label_f42aa342-8706-4288-bd11-ebb85995028c_SetDate">
    <vt:lpwstr>2019-08-23T05:55:45.1219458Z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ActionId">
    <vt:lpwstr>876bf8eb-1e2c-4619-9c95-751767332300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</Properties>
</file>